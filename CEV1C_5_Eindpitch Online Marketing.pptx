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1: TITELPAGINA (Stan)</a:t>
            </a:r>
          </a:p>
          <a:p/>
          <a:p>
            <a:r>
              <a:t>"Goedemiddag allemaal en welkom bij onze eindpitch over retentiemarketing bij HEMA.</a:t>
            </a:r>
          </a:p>
          <a:p/>
          <a:p>
            <a:r>
              <a:t>Wij zijn [namen noemen] en de afgelopen weken hebben we de webshop van HEMA uitgebreid geanalyseerd op het gebied van online marketing.</a:t>
            </a:r>
          </a:p>
          <a:p/>
          <a:p>
            <a:r>
              <a:t>Vandaag gaan we in op de centrale vraag: In welke mate zet HEMA retentiemarketing effectief in, en hoe kan dit worden verbeterd?</a:t>
            </a:r>
          </a:p>
          <a:p/>
          <a:p>
            <a:r>
              <a:t>We nemen jullie mee langs onze analyse, beoordeling en concrete aanbevelingen."</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2: POSITIONERING &amp; BELANG RETENTIE (Stan - ~1 minuut)</a:t>
            </a:r>
          </a:p>
          <a:p/>
          <a:p>
            <a:r>
              <a:t>"HEMA is een van de meest herkenbare retailmerken van Nederland. Opgericht in 1926, inmiddels meer dan 700 winkels en een sterke webshop. Hun kernwaarde is simpel: betaalbaar design voor iedereen.</a:t>
            </a:r>
          </a:p>
          <a:p/>
          <a:p>
            <a:r>
              <a:t>We hebben drie klantsegmenten geidentificeerd: budgetbewuste gezinnen, jonge starters en loyale 50-plussers. Dit zijn heel verschillende groepen, maar ze delen een ding: ze komen regelmatig terug bij HEMA.</a:t>
            </a:r>
          </a:p>
          <a:p/>
          <a:p>
            <a:r>
              <a:t>En dat is precies waarom retentiemarketing cruciaal is voor HEMA. Een bestaande klant behouden is 5 tot 7 keer goedkoper dan een nieuwe werven. HEMA leeft van herhaalaankopen - dagelijkse producten, seizoensartikelen, cadeaus. Maar de concurrentie van Action, IKEA en Flying Tiger groeit, en vooral bij jongere doelgroepen is de merktrouw lager. Retentiemarketing is dus niet optioneel, het is essentieel voor HEMA's groei."</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3: HUIDIGE RETENTIESTRATEGIEEN (Niels - ~2 minuten)</a:t>
            </a:r>
          </a:p>
          <a:p/>
          <a:p>
            <a:r>
              <a:t>"Laten we kijken naar wat HEMA nu al doet aan retentiemarketing. We hebben vijf kernstrategieen geidentificeerd:</a:t>
            </a:r>
          </a:p>
          <a:p/>
          <a:p>
            <a:r>
              <a:t>1. LOYALITEITSPROGRAMMA - De HEMA Pas is het sterkste retentie-instrument. Klanten sparen punten, krijgen een gratis tompouce op hun verjaardag, en ontvangen persoonlijke aanbiedingen. Dit creëert een gevoel van wederkerigheid - een van Cialdini's principes.</a:t>
            </a:r>
          </a:p>
          <a:p/>
          <a:p>
            <a:r>
              <a:t>2. E-MAIL &amp; CONTACTMOMENTEN - HEMA heeft een actieve e-mailstrategie. Nieuwe klanten krijgen 10% welkomstkorting, er worden abandoned cart e-mails verstuurd, en seizoenscampagnes houden klanten betrokken. De timing van contactmomenten is goed afgestemd op het koopgedrag.</a:t>
            </a:r>
          </a:p>
          <a:p/>
          <a:p>
            <a:r>
              <a:t>3. CROSS- EN UPSELLING - Op de webshop zien we 'shop de set' combinaties, 'klanten kochten ook' secties, en thematische carousels. Dit verhoogt de orderwaarde per bezoek.</a:t>
            </a:r>
          </a:p>
          <a:p/>
          <a:p>
            <a:r>
              <a:t>4. PERSONALISATIE - Via het HEMA-account en de Pas worden aanbevelingen op maat gedaan. Recent bekeken producten verschijnen weer, en e-mails zijn gepersonaliseerd.</a:t>
            </a:r>
          </a:p>
          <a:p/>
          <a:p>
            <a:r>
              <a:t>5. CONTENT &amp; COMMUNITY - HEMA is actief op 8 social media platforms, voert seizoenscampagnes, en biedt klantenservice via live chat. Het retourbeleid van 30 dagen verlaagt de drempel."</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4: KOPPELING AAN MODELLEN (Mees - ~2 minuten)</a:t>
            </a:r>
          </a:p>
          <a:p/>
          <a:p>
            <a:r>
              <a:t>"Nu koppelen we onze bevindingen aan de theorie die we in de colleges hebben behandeld.</a:t>
            </a:r>
          </a:p>
          <a:p/>
          <a:p>
            <a:r>
              <a:t>6B-MODEL - In het model van Visser &amp; Sikkenga is de fase 'Binden' de meest relevante voor retentiemarketing. HEMA scoort hier een 8 uit 10. De kernsuccesfactor is loyaliteit en retentie, en dat zien we terug in de HEMA Pas, het ruime retourbeleid en de persoonlijke aanbiedingen. Wat opvalt: er is geen exclusief loyaliteitsniveau - alle pashouders krijgen dezelfde voordelen.</a:t>
            </a:r>
          </a:p>
          <a:p/>
          <a:p>
            <a:r>
              <a:t>8 C's VAN E-LOYALITEIT - Van de 8 C's zijn er vijf direct relevant voor retentie:</a:t>
            </a:r>
          </a:p>
          <a:p>
            <a:r>
              <a:t>- Care: de klantenservice en het retourbeleid zijn sterk</a:t>
            </a:r>
          </a:p>
          <a:p>
            <a:r>
              <a:t>- Cultivation: HEMA investeert actief in de klantrelatie via de Pas en nieuwsbrieven</a:t>
            </a:r>
          </a:p>
          <a:p>
            <a:r>
              <a:t>- Customization: personalisatie is aanwezig maar kan dieper</a:t>
            </a:r>
          </a:p>
          <a:p>
            <a:r>
              <a:t>- Community: HEMA is actief op social media, maar een echte klantcommunity ontbreekt</a:t>
            </a:r>
          </a:p>
          <a:p>
            <a:r>
              <a:t>- Contact interactivity en Convenience zijn goed op orde</a:t>
            </a:r>
          </a:p>
          <a:p/>
          <a:p>
            <a:r>
              <a:t>BAIA-MODEL - Retentie zit bij HEMA verweven in meerdere fases. In de Interactie-fase zien we personalisatie en de HEMA Pas. In de Actie-fase zien we abandoned cart mails en kortingsacties. Na de actie volgt e-mail nurturing. Retentie is dus geen losse fase, maar loopt door het hele model heen."</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5: STERKE &amp; ZWAKKE PUNTEN (Levi - ~2 minuten)</a:t>
            </a:r>
          </a:p>
          <a:p/>
          <a:p>
            <a:r>
              <a:t>"Op basis van onze analyse hebben we de retentiemarketing van HEMA beoordeeld op sterke en zwakke punten.</a:t>
            </a:r>
          </a:p>
          <a:p/>
          <a:p>
            <a:r>
              <a:t>STERKE PUNTEN:</a:t>
            </a:r>
          </a:p>
          <a:p>
            <a:r>
              <a:t>- De HEMA Pas is het fundament. Het spaarprogramma werkt - klanten komen terug voor punten, voor de gratis tompouce, voor persoonlijke acties. Dit is wederkerigheid volgens Cialdini in optima forma.</a:t>
            </a:r>
          </a:p>
          <a:p>
            <a:r>
              <a:t>- De omnichannel-aanpak is sterk. Je kunt online bestellen, in de winkel afhalen, of andersom. Die 700+ winkels zijn een enorm retentie-voordeel.</a:t>
            </a:r>
          </a:p>
          <a:p>
            <a:r>
              <a:t>- Seizoenscampagnes houden HEMA top-of-mind: Pasen, Sinterklaas, Back to School - er is altijd een reden om terug te komen.</a:t>
            </a:r>
          </a:p>
          <a:p>
            <a:r>
              <a:t>- Het retourbeleid van 30 dagen, zowel via post als in de winkel, bouwt vertrouwen.</a:t>
            </a:r>
          </a:p>
          <a:p/>
          <a:p>
            <a:r>
              <a:t>VERBETERPUNTEN:</a:t>
            </a:r>
          </a:p>
          <a:p>
            <a:r>
              <a:t>- Er zijn geen loyaliteitsniveaus. Een klant die 10 keer per jaar koopt krijgt dezelfde voordelen als iemand die 1 keer koopt. Geen goud-, zilver-, bronzestatus.</a:t>
            </a:r>
          </a:p>
          <a:p>
            <a:r>
              <a:t>- De community is zwak. Ondanks 8 social media platforms is er geen actieve klantcommunity en weinig user-generated content.</a:t>
            </a:r>
          </a:p>
          <a:p>
            <a:r>
              <a:t>- Reviews zijn nauwelijks zichtbaar op overzichtspagina's.</a:t>
            </a:r>
          </a:p>
          <a:p>
            <a:r>
              <a:t>- Marketing automation lijkt beperkt: we zien geen geavanceerde win-back campagnes of lifecycle e-mails.</a:t>
            </a:r>
          </a:p>
          <a:p>
            <a:r>
              <a:t>- Er is geen blog of inspiratiecontent specifiek voor bestaande klanten."</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6: BENCHMARK (Levi - ~1.5 minuten)</a:t>
            </a:r>
          </a:p>
          <a:p/>
          <a:p>
            <a:r>
              <a:t>"Om HEMA's retentiemarketing in perspectief te plaatsen, vergelijken we met twee concurrenten uit dezelfde branche.</a:t>
            </a:r>
          </a:p>
          <a:p/>
          <a:p>
            <a:r>
              <a:t>ACTION scoort zwak op retentie: geen loyaliteitsprogramma, minimale e-mailinspanning, geen personalisatie en geen community. Hun model is puur op prijs en fysieke winkelbezoeken gebaseerd. Retentiescore: 3 uit 10.</a:t>
            </a:r>
          </a:p>
          <a:p/>
          <a:p>
            <a:r>
              <a:t>IKEA is de benchmark. IKEA Family is een van de sterkste loyaliteitsprogramma's in retail: gratis lidmaatschap, workshops, kortingen, en zelfs een verzekering. Hun personalisatie is AI-driven met roomplanners en inspiratiecontent. Ze hebben een actieve community met events en user-generated content.</a:t>
            </a:r>
          </a:p>
          <a:p/>
          <a:p>
            <a:r>
              <a:t>HEMA zit er tussenin met een 7 uit 10. De HEMA Pas is een sterk fundament, maar vergeleken met IKEA mist HEMA diepgang in personalisatie, community-building en content voor bestaande klanten. Hier liggen de grootste kansen."</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7: TOTAALOORDEEL (Tom - ~1 minuut)</a:t>
            </a:r>
          </a:p>
          <a:p/>
          <a:p>
            <a:r>
              <a:t>"Op basis van onze uitgebreide analyse geven wij HEMA een 7 uit 10 voor retentiemarketing. Dat is een voldoende-plus: een sterke basis, maar met duidelijke ruimte voor groei.</a:t>
            </a:r>
          </a:p>
          <a:p/>
          <a:p>
            <a:r>
              <a:t>WAT WERKT: De HEMA Pas is het fundament - het creëert wederkerigheid, commitment en een reden om terug te komen. De omnichannel-aanpak versterkt dit: je kunt je punten zowel online als in de winkel gebruiken. Seizoenscampagnes zorgen voor consistent contact.</a:t>
            </a:r>
          </a:p>
          <a:p/>
          <a:p>
            <a:r>
              <a:t>WAT MIST: Er is geen differentiatie tussen klanten - geen goud- of zilverstatus voor topklanten. De community is onderontwikkeld, personalisatie blijft oppervlakkig, en echte marketing automation ontbreekt.</a:t>
            </a:r>
          </a:p>
          <a:p/>
          <a:p>
            <a:r>
              <a:t>VERGELEKEN MET DE BENCHMARK: HEMA doet het ruim beter dan Action, maar loopt achter op IKEA, vooral op het gebied van personalisatie, community en contentmarketing.</a:t>
            </a:r>
          </a:p>
          <a:p/>
          <a:p>
            <a:r>
              <a:t>De conclusie: het fundament is sterk, maar om retentie naar het volgende niveau te tillen zijn gerichte verbeteringen nodig. En daar gaan we nu naar kijken."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8: VERBETERADVIEZEN (Tom - ~2 minuten)</a:t>
            </a:r>
          </a:p>
          <a:p/>
          <a:p>
            <a:r>
              <a:t>"Op basis van onze analyse komen we met vijf concrete, haalbare aanbevelingen:</a:t>
            </a:r>
          </a:p>
          <a:p/>
          <a:p>
            <a:r>
              <a:t>1. HEMA PAS PREMIUM - Introduceer loyaliteitsniveaus. Bronze, Silver, Gold op basis van jaaromzet. Gold-leden krijgen early access, dubbele punten en exclusieve producten. Dit creëert commitment volgens Cialdini en stimuleert klanten om meer te besteden.</a:t>
            </a:r>
          </a:p>
          <a:p/>
          <a:p>
            <a:r>
              <a:t>2. MARKETING AUTOMATION - Implementeer lifecycle e-mails. Een welkomstserie van 5 mails voor nieuwe klanten, win-back campagnes na 60 dagen inactiviteit, en post-purchase nurturing met gerelateerde producten. Dit is wat IKEA al doet en wat HEMA mist.</a:t>
            </a:r>
          </a:p>
          <a:p/>
          <a:p>
            <a:r>
              <a:t>3. HEMA COMMUNITY - Lanceer #MijnHEMA waarbij klanten foto's delen van HEMA-producten in gebruik. De beste content wordt uitgelicht op de webshop en social media. Een maandelijkse winactie als incentive. Dit bouwt sociale bewijskracht en versterkt de band met het merk.</a:t>
            </a:r>
          </a:p>
          <a:p/>
          <a:p>
            <a:r>
              <a:t>4. AI-PERSONALISATIE - Investeer in slimmere aanbevelingen op basis van koophistorie en browse-gedrag. Personaliseer de homepage per klant. Stuur 'speciaal voor jou' e-mails. Onderzoek toont aan dat personalisatie de conversie met 10-30% kan verhogen.</a:t>
            </a:r>
          </a:p>
          <a:p/>
          <a:p>
            <a:r>
              <a:t>5. EXCLUSIEVE CONTENT - Start een inspiratieblog met seizoenstips, recepten en DIY-projecten. Maak exclusieve content voor HEMA Pas-leden. Dit geeft klanten een extra reden om terug te komen en versterkt de merkrelatie.</a:t>
            </a:r>
          </a:p>
          <a:p/>
          <a:p>
            <a:r>
              <a:t>Al deze adviezen komen logisch voort uit onze analyse, sluiten aan bij de doelgroep en dragen bij aan herhaalaankopen en klantbinding."</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9: CONCLUSIE &amp; AFSLUITING (Allen)</a:t>
            </a:r>
          </a:p>
          <a:p/>
          <a:p>
            <a:r>
              <a:t>"Om samen te vatten: HEMA heeft een sterke basis voor retentiemarketing. De HEMA Pas is een effectief loyaliteitsinstrument, de omnichannel-aanpak versterkt klantbinding, en seizoenscampagnes houden het merk relevant.</a:t>
            </a:r>
          </a:p>
          <a:p/>
          <a:p>
            <a:r>
              <a:t>Maar er is duidelijk ruimte voor groei. Door te investeren in:</a:t>
            </a:r>
          </a:p>
          <a:p>
            <a:r>
              <a:t>1. Loyaliteitsniveaus</a:t>
            </a:r>
          </a:p>
          <a:p>
            <a:r>
              <a:t>2. Marketing automation</a:t>
            </a:r>
          </a:p>
          <a:p>
            <a:r>
              <a:t>3. Community-building</a:t>
            </a:r>
          </a:p>
          <a:p>
            <a:r>
              <a:t>4. Geavanceerde personalisatie</a:t>
            </a:r>
          </a:p>
          <a:p>
            <a:r>
              <a:t>5. Exclusieve content</a:t>
            </a:r>
          </a:p>
          <a:p/>
          <a:p>
            <a:r>
              <a:t>...kan HEMA van een 7 naar een 9 groeien en bestaande klanten significant beter binden.</a:t>
            </a:r>
          </a:p>
          <a:p/>
          <a:p>
            <a:r>
              <a:t>Het antwoord op onze centrale vraag is dus: HEMA zet retentiemarketing op een voldoende niveau in, met een sterk fundament maar met concrete kansen om de customer lifetime value te verhogen.</a:t>
            </a:r>
          </a:p>
          <a:p/>
          <a:p>
            <a:r>
              <a:t>Bedankt voor jullie aandacht. Zijn er vragen?"</a:t>
            </a:r>
          </a:p>
          <a:p/>
          <a:p>
            <a:r>
              <a:t>ROLVERDELING SAMENVATTING:</a:t>
            </a:r>
          </a:p>
          <a:p>
            <a:r>
              <a:t>- Stan: Slide 1-2 (Intro &amp; positionering, ~2 min)</a:t>
            </a:r>
          </a:p>
          <a:p>
            <a:r>
              <a:t>- Niels: Slide 3 (Huidige retentiestrategieen, ~2 min)</a:t>
            </a:r>
          </a:p>
          <a:p>
            <a:r>
              <a:t>- Mees: Slide 4 (Koppeling modellen, ~2 min)</a:t>
            </a:r>
          </a:p>
          <a:p>
            <a:r>
              <a:t>- Levi: Slide 5-6 (Sterkte/zwakte + benchmark, ~2.5 min)</a:t>
            </a:r>
          </a:p>
          <a:p>
            <a:r>
              <a:t>- Tom: Slide 7-8 (Totaaloordeel + adviezen, ~2.5 min)</a:t>
            </a:r>
          </a:p>
          <a:p>
            <a:r>
              <a:t>- Allen: Slide 9 (Conclusie, ~1 min)</a:t>
            </a:r>
          </a:p>
          <a:p>
            <a:r>
              <a:t>Totaal: ~10 minuten</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SPREKERNOTITIES - SLIDE 10: BRONNEN</a:t>
            </a:r>
          </a:p>
          <a:p/>
          <a:p>
            <a:r>
              <a:t>Deze slide toont de gebruikte bronnen. Niet bespreken tenzij ernaar gevraagd wordt.</a:t>
            </a:r>
          </a:p>
          <a:p/>
          <a:p>
            <a:r>
              <a:t>Belangrijkste theoretische bronnen:</a:t>
            </a:r>
          </a:p>
          <a:p>
            <a:r>
              <a:t>- Frankwatching artikel over retentiemarketing (centraal artikel voor de eindopdracht)</a:t>
            </a:r>
          </a:p>
          <a:p>
            <a:r>
              <a:t>- Visser &amp; Sikkenga - Basisboek Online Marketing (6B-model, BAIA-model)</a:t>
            </a:r>
          </a:p>
          <a:p>
            <a:r>
              <a:t>- Cialdini - Beinvloedingsprincipes</a:t>
            </a:r>
          </a:p>
          <a:p>
            <a:r>
              <a:t>- Srinivasan et al. - 8 C's van e-loyaliteit</a:t>
            </a:r>
          </a:p>
          <a:p>
            <a:r>
              <a:t>- Hasan &amp; Abuelrub - Kwaliteit van websites</a:t>
            </a:r>
          </a:p>
          <a:p/>
          <a:p>
            <a:r>
              <a:t>Praktijkbronnen:</a:t>
            </a:r>
          </a:p>
          <a:p>
            <a:r>
              <a:t>- hema.nl webshop (eigen analyse)</a:t>
            </a:r>
          </a:p>
          <a:p>
            <a:r>
              <a:t>- Meta Advertentiebibliotheek</a:t>
            </a:r>
          </a:p>
          <a:p>
            <a:r>
              <a:t>- Google Ads &amp; Trends</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937760" y="1371600"/>
            <a:ext cx="2286000" cy="1005840"/>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5200" b="1">
                <a:solidFill>
                  <a:srgbClr val="FFFFFF"/>
                </a:solidFill>
                <a:latin typeface="Calibri"/>
              </a:rPr>
              <a:t>HEMA</a:t>
            </a:r>
          </a:p>
        </p:txBody>
      </p:sp>
      <p:sp>
        <p:nvSpPr>
          <p:cNvPr id="4" name="TextBox 3"/>
          <p:cNvSpPr txBox="1"/>
          <p:nvPr/>
        </p:nvSpPr>
        <p:spPr>
          <a:xfrm>
            <a:off x="1371600" y="2743200"/>
            <a:ext cx="9448495" cy="1097280"/>
          </a:xfrm>
          <a:prstGeom prst="rect">
            <a:avLst/>
          </a:prstGeom>
          <a:noFill/>
        </p:spPr>
        <p:txBody>
          <a:bodyPr wrap="square">
            <a:spAutoFit/>
          </a:bodyPr>
          <a:lstStyle/>
          <a:p>
            <a:pPr algn="ctr"/>
            <a:r>
              <a:rPr sz="4000" b="1">
                <a:solidFill>
                  <a:srgbClr val="1D1D1F"/>
                </a:solidFill>
                <a:latin typeface="Calibri"/>
              </a:rPr>
              <a:t>Eindpitch Online Marketing</a:t>
            </a:r>
          </a:p>
        </p:txBody>
      </p:sp>
      <p:sp>
        <p:nvSpPr>
          <p:cNvPr id="5" name="TextBox 4"/>
          <p:cNvSpPr txBox="1"/>
          <p:nvPr/>
        </p:nvSpPr>
        <p:spPr>
          <a:xfrm>
            <a:off x="2286000" y="3749039"/>
            <a:ext cx="7619695" cy="640080"/>
          </a:xfrm>
          <a:prstGeom prst="rect">
            <a:avLst/>
          </a:prstGeom>
          <a:noFill/>
        </p:spPr>
        <p:txBody>
          <a:bodyPr wrap="square">
            <a:spAutoFit/>
          </a:bodyPr>
          <a:lstStyle/>
          <a:p>
            <a:pPr algn="ctr"/>
            <a:r>
              <a:rPr sz="2000" b="0">
                <a:solidFill>
                  <a:srgbClr val="86868B"/>
                </a:solidFill>
                <a:latin typeface="Calibri"/>
              </a:rPr>
              <a:t>Retentiemarketing bij HEMA — Hoe goed bindt HEMA bestaande klanten?</a:t>
            </a:r>
          </a:p>
        </p:txBody>
      </p:sp>
      <p:sp>
        <p:nvSpPr>
          <p:cNvPr id="6" name="TextBox 5"/>
          <p:cNvSpPr txBox="1"/>
          <p:nvPr/>
        </p:nvSpPr>
        <p:spPr>
          <a:xfrm>
            <a:off x="2286000" y="4754880"/>
            <a:ext cx="7619695" cy="914400"/>
          </a:xfrm>
          <a:prstGeom prst="rect">
            <a:avLst/>
          </a:prstGeom>
          <a:noFill/>
        </p:spPr>
        <p:txBody>
          <a:bodyPr wrap="square">
            <a:spAutoFit/>
          </a:bodyPr>
          <a:lstStyle/>
          <a:p>
            <a:pPr algn="ctr"/>
            <a:r>
              <a:rPr sz="1400" b="0">
                <a:solidFill>
                  <a:srgbClr val="86868B"/>
                </a:solidFill>
                <a:latin typeface="Calibri"/>
              </a:rPr>
              <a:t>Stan van Dijk  •  Niels Gunst  •  Mees Egberts  •  Levi de Jong  •  Tom Koenraads</a:t>
            </a:r>
          </a:p>
          <a:p>
            <a:pPr algn="ctr"/>
            <a:r>
              <a:rPr sz="1300">
                <a:solidFill>
                  <a:srgbClr val="86868B"/>
                </a:solidFill>
                <a:latin typeface="Calibri"/>
              </a:rPr>
              <a:t>Online Marketing — Blok 3 — 2026</a:t>
            </a:r>
          </a:p>
        </p:txBody>
      </p:sp>
      <p:sp>
        <p:nvSpPr>
          <p:cNvPr id="7" name="Rectangle 6"/>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754880" y="365760"/>
            <a:ext cx="265176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Positionering</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HEMA &amp; het belang van retentiemarketing</a:t>
            </a:r>
          </a:p>
        </p:txBody>
      </p:sp>
      <p:sp>
        <p:nvSpPr>
          <p:cNvPr id="6" name="TextBox 5"/>
          <p:cNvSpPr txBox="1"/>
          <p:nvPr/>
        </p:nvSpPr>
        <p:spPr>
          <a:xfrm>
            <a:off x="1828800" y="1554480"/>
            <a:ext cx="8534095" cy="457200"/>
          </a:xfrm>
          <a:prstGeom prst="rect">
            <a:avLst/>
          </a:prstGeom>
          <a:noFill/>
        </p:spPr>
        <p:txBody>
          <a:bodyPr wrap="square">
            <a:spAutoFit/>
          </a:bodyPr>
          <a:lstStyle/>
          <a:p>
            <a:pPr algn="ctr"/>
            <a:r>
              <a:rPr sz="1500" b="0">
                <a:solidFill>
                  <a:srgbClr val="86868B"/>
                </a:solidFill>
                <a:latin typeface="Calibri"/>
              </a:rPr>
              <a:t>Nederlands retailmerk met 700+ winkels, een webshop en een sterke emotionele band met de consument</a:t>
            </a:r>
          </a:p>
        </p:txBody>
      </p:sp>
      <p:sp>
        <p:nvSpPr>
          <p:cNvPr id="7" name="Rounded Rectangle 6"/>
          <p:cNvSpPr/>
          <p:nvPr/>
        </p:nvSpPr>
        <p:spPr>
          <a:xfrm>
            <a:off x="777240" y="2286000"/>
            <a:ext cx="3291840" cy="34747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2468880"/>
            <a:ext cx="2743200" cy="457200"/>
          </a:xfrm>
          <a:prstGeom prst="rect">
            <a:avLst/>
          </a:prstGeom>
          <a:noFill/>
        </p:spPr>
        <p:txBody>
          <a:bodyPr wrap="square">
            <a:spAutoFit/>
          </a:bodyPr>
          <a:lstStyle/>
          <a:p>
            <a:pPr algn="l"/>
            <a:r>
              <a:rPr sz="1800" b="1">
                <a:solidFill>
                  <a:srgbClr val="E4002B"/>
                </a:solidFill>
                <a:latin typeface="Calibri"/>
              </a:rPr>
              <a:t>Wat is HEMA?</a:t>
            </a:r>
          </a:p>
        </p:txBody>
      </p:sp>
      <p:sp>
        <p:nvSpPr>
          <p:cNvPr id="9" name="TextBox 8"/>
          <p:cNvSpPr txBox="1"/>
          <p:nvPr/>
        </p:nvSpPr>
        <p:spPr>
          <a:xfrm>
            <a:off x="1051560" y="3017520"/>
            <a:ext cx="2743200" cy="2560320"/>
          </a:xfrm>
          <a:prstGeom prst="rect">
            <a:avLst/>
          </a:prstGeom>
          <a:noFill/>
        </p:spPr>
        <p:txBody>
          <a:bodyPr wrap="square">
            <a:spAutoFit/>
          </a:bodyPr>
          <a:lstStyle/>
          <a:p>
            <a:pPr>
              <a:spcAft>
                <a:spcPts val="500"/>
              </a:spcAft>
            </a:pPr>
            <a:r>
              <a:rPr sz="1300">
                <a:solidFill>
                  <a:srgbClr val="1D1D1F"/>
                </a:solidFill>
                <a:latin typeface="Calibri"/>
              </a:rPr>
              <a:t>  Nederlands retailmerk, opgericht in 1926</a:t>
            </a:r>
          </a:p>
          <a:p>
            <a:pPr>
              <a:spcAft>
                <a:spcPts val="500"/>
              </a:spcAft>
            </a:pPr>
            <a:r>
              <a:rPr sz="1300">
                <a:solidFill>
                  <a:srgbClr val="1D1D1F"/>
                </a:solidFill>
                <a:latin typeface="Calibri"/>
              </a:rPr>
              <a:t>  700+ fysieke winkels + webshop hema.nl</a:t>
            </a:r>
          </a:p>
          <a:p>
            <a:pPr>
              <a:spcAft>
                <a:spcPts val="500"/>
              </a:spcAft>
            </a:pPr>
            <a:r>
              <a:rPr sz="1300">
                <a:solidFill>
                  <a:srgbClr val="1D1D1F"/>
                </a:solidFill>
                <a:latin typeface="Calibri"/>
              </a:rPr>
              <a:t>  Breed assortiment: huishouden, kleding, food, services</a:t>
            </a:r>
          </a:p>
          <a:p>
            <a:pPr>
              <a:spcAft>
                <a:spcPts val="500"/>
              </a:spcAft>
            </a:pPr>
            <a:r>
              <a:rPr sz="1300">
                <a:solidFill>
                  <a:srgbClr val="1D1D1F"/>
                </a:solidFill>
                <a:latin typeface="Calibri"/>
              </a:rPr>
              <a:t>  Kernwaarde: betaalbaar design voor iedereen</a:t>
            </a:r>
          </a:p>
          <a:p>
            <a:pPr>
              <a:spcAft>
                <a:spcPts val="500"/>
              </a:spcAft>
            </a:pPr>
            <a:r>
              <a:rPr sz="1300">
                <a:solidFill>
                  <a:srgbClr val="1D1D1F"/>
                </a:solidFill>
                <a:latin typeface="Calibri"/>
              </a:rPr>
              <a:t>  Sterk omnichannel: online + offline + app</a:t>
            </a:r>
          </a:p>
        </p:txBody>
      </p:sp>
      <p:sp>
        <p:nvSpPr>
          <p:cNvPr id="10" name="Rounded Rectangle 9"/>
          <p:cNvSpPr/>
          <p:nvPr/>
        </p:nvSpPr>
        <p:spPr>
          <a:xfrm>
            <a:off x="4389120" y="2286000"/>
            <a:ext cx="3291840" cy="34747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663440" y="2468880"/>
            <a:ext cx="2743200" cy="457200"/>
          </a:xfrm>
          <a:prstGeom prst="rect">
            <a:avLst/>
          </a:prstGeom>
          <a:noFill/>
        </p:spPr>
        <p:txBody>
          <a:bodyPr wrap="square">
            <a:spAutoFit/>
          </a:bodyPr>
          <a:lstStyle/>
          <a:p>
            <a:pPr algn="l"/>
            <a:r>
              <a:rPr sz="1800" b="1">
                <a:solidFill>
                  <a:srgbClr val="E4002B"/>
                </a:solidFill>
                <a:latin typeface="Calibri"/>
              </a:rPr>
              <a:t>Drie klantsegmenten</a:t>
            </a:r>
          </a:p>
        </p:txBody>
      </p:sp>
      <p:sp>
        <p:nvSpPr>
          <p:cNvPr id="12" name="TextBox 11"/>
          <p:cNvSpPr txBox="1"/>
          <p:nvPr/>
        </p:nvSpPr>
        <p:spPr>
          <a:xfrm>
            <a:off x="4663440" y="3017520"/>
            <a:ext cx="2743200" cy="2560320"/>
          </a:xfrm>
          <a:prstGeom prst="rect">
            <a:avLst/>
          </a:prstGeom>
          <a:noFill/>
        </p:spPr>
        <p:txBody>
          <a:bodyPr wrap="square">
            <a:spAutoFit/>
          </a:bodyPr>
          <a:lstStyle/>
          <a:p>
            <a:pPr>
              <a:spcAft>
                <a:spcPts val="500"/>
              </a:spcAft>
            </a:pPr>
            <a:r>
              <a:rPr sz="1300">
                <a:solidFill>
                  <a:srgbClr val="1D1D1F"/>
                </a:solidFill>
                <a:latin typeface="Calibri"/>
              </a:rPr>
              <a:t>  Budgetbewuste gezinnen (30-45 jr)</a:t>
            </a:r>
          </a:p>
          <a:p>
            <a:pPr>
              <a:spcAft>
                <a:spcPts val="500"/>
              </a:spcAft>
            </a:pPr>
            <a:r>
              <a:rPr sz="1300">
                <a:solidFill>
                  <a:srgbClr val="1D1D1F"/>
                </a:solidFill>
                <a:latin typeface="Calibri"/>
              </a:rPr>
              <a:t>  Jonge stedelijke starters (20-30 jr)</a:t>
            </a:r>
          </a:p>
          <a:p>
            <a:pPr>
              <a:spcAft>
                <a:spcPts val="500"/>
              </a:spcAft>
            </a:pPr>
            <a:r>
              <a:rPr sz="1300">
                <a:solidFill>
                  <a:srgbClr val="1D1D1F"/>
                </a:solidFill>
                <a:latin typeface="Calibri"/>
              </a:rPr>
              <a:t>  Loyale 50-plussers (50-70 jr)</a:t>
            </a:r>
          </a:p>
          <a:p>
            <a:pPr>
              <a:spcAft>
                <a:spcPts val="500"/>
              </a:spcAft>
            </a:pPr>
            <a:r>
              <a:rPr sz="1300">
                <a:solidFill>
                  <a:srgbClr val="1D1D1F"/>
                </a:solidFill>
                <a:latin typeface="Calibri"/>
              </a:rPr>
              <a:t>  Breed: 'de winkel voor iedereen'</a:t>
            </a:r>
          </a:p>
          <a:p>
            <a:pPr>
              <a:spcAft>
                <a:spcPts val="500"/>
              </a:spcAft>
            </a:pPr>
            <a:r>
              <a:rPr sz="1300">
                <a:solidFill>
                  <a:srgbClr val="1D1D1F"/>
                </a:solidFill>
                <a:latin typeface="Calibri"/>
              </a:rPr>
              <a:t>  Hoge merkherkenning, generaties lang</a:t>
            </a:r>
          </a:p>
        </p:txBody>
      </p:sp>
      <p:sp>
        <p:nvSpPr>
          <p:cNvPr id="13" name="Rounded Rectangle 12"/>
          <p:cNvSpPr/>
          <p:nvPr/>
        </p:nvSpPr>
        <p:spPr>
          <a:xfrm>
            <a:off x="8001000" y="2286000"/>
            <a:ext cx="3291840" cy="34747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75320" y="2468880"/>
            <a:ext cx="2743200" cy="457200"/>
          </a:xfrm>
          <a:prstGeom prst="rect">
            <a:avLst/>
          </a:prstGeom>
          <a:noFill/>
        </p:spPr>
        <p:txBody>
          <a:bodyPr wrap="square">
            <a:spAutoFit/>
          </a:bodyPr>
          <a:lstStyle/>
          <a:p>
            <a:pPr algn="l"/>
            <a:r>
              <a:rPr sz="1800" b="1">
                <a:solidFill>
                  <a:srgbClr val="E4002B"/>
                </a:solidFill>
                <a:latin typeface="Calibri"/>
              </a:rPr>
              <a:t>Waarom retentiemarketing?</a:t>
            </a:r>
          </a:p>
        </p:txBody>
      </p:sp>
      <p:sp>
        <p:nvSpPr>
          <p:cNvPr id="15" name="TextBox 14"/>
          <p:cNvSpPr txBox="1"/>
          <p:nvPr/>
        </p:nvSpPr>
        <p:spPr>
          <a:xfrm>
            <a:off x="8275320" y="3017520"/>
            <a:ext cx="2743200" cy="2560320"/>
          </a:xfrm>
          <a:prstGeom prst="rect">
            <a:avLst/>
          </a:prstGeom>
          <a:noFill/>
        </p:spPr>
        <p:txBody>
          <a:bodyPr wrap="square">
            <a:spAutoFit/>
          </a:bodyPr>
          <a:lstStyle/>
          <a:p>
            <a:pPr>
              <a:spcAft>
                <a:spcPts val="500"/>
              </a:spcAft>
            </a:pPr>
            <a:r>
              <a:rPr sz="1300">
                <a:solidFill>
                  <a:srgbClr val="1D1D1F"/>
                </a:solidFill>
                <a:latin typeface="Calibri"/>
              </a:rPr>
              <a:t>  Bestaande klant behouden = 5-7x goedkoper</a:t>
            </a:r>
          </a:p>
          <a:p>
            <a:pPr>
              <a:spcAft>
                <a:spcPts val="500"/>
              </a:spcAft>
            </a:pPr>
            <a:r>
              <a:rPr sz="1300">
                <a:solidFill>
                  <a:srgbClr val="1D1D1F"/>
                </a:solidFill>
                <a:latin typeface="Calibri"/>
              </a:rPr>
              <a:t>  HEMA leeft van herhaalaankopen</a:t>
            </a:r>
          </a:p>
          <a:p>
            <a:pPr>
              <a:spcAft>
                <a:spcPts val="500"/>
              </a:spcAft>
            </a:pPr>
            <a:r>
              <a:rPr sz="1300">
                <a:solidFill>
                  <a:srgbClr val="1D1D1F"/>
                </a:solidFill>
                <a:latin typeface="Calibri"/>
              </a:rPr>
              <a:t>  Hoge concurrentie: Action, IKEA, Flying Tiger</a:t>
            </a:r>
          </a:p>
          <a:p>
            <a:pPr>
              <a:spcAft>
                <a:spcPts val="500"/>
              </a:spcAft>
            </a:pPr>
            <a:r>
              <a:rPr sz="1300">
                <a:solidFill>
                  <a:srgbClr val="1D1D1F"/>
                </a:solidFill>
                <a:latin typeface="Calibri"/>
              </a:rPr>
              <a:t>  Jongere doelgroep: lagere merktrouw</a:t>
            </a:r>
          </a:p>
          <a:p>
            <a:pPr>
              <a:spcAft>
                <a:spcPts val="500"/>
              </a:spcAft>
            </a:pPr>
            <a:r>
              <a:rPr sz="1300">
                <a:solidFill>
                  <a:srgbClr val="1D1D1F"/>
                </a:solidFill>
                <a:latin typeface="Calibri"/>
              </a:rPr>
              <a:t>  Customer lifetime value verhogen = groei</a:t>
            </a:r>
          </a:p>
        </p:txBody>
      </p:sp>
      <p:sp>
        <p:nvSpPr>
          <p:cNvPr id="16" name="Rounded Rectangle 15"/>
          <p:cNvSpPr/>
          <p:nvPr/>
        </p:nvSpPr>
        <p:spPr>
          <a:xfrm>
            <a:off x="777240" y="6035040"/>
            <a:ext cx="10607040" cy="54864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6080760"/>
            <a:ext cx="10058400" cy="457200"/>
          </a:xfrm>
          <a:prstGeom prst="rect">
            <a:avLst/>
          </a:prstGeom>
          <a:noFill/>
        </p:spPr>
        <p:txBody>
          <a:bodyPr wrap="square">
            <a:spAutoFit/>
          </a:bodyPr>
          <a:lstStyle/>
          <a:p>
            <a:pPr algn="ctr"/>
            <a:r>
              <a:rPr sz="1300" b="0">
                <a:solidFill>
                  <a:srgbClr val="E4002B"/>
                </a:solidFill>
                <a:latin typeface="Calibri"/>
              </a:rPr>
              <a:t>Een bestaande klant heeft 60-70% kans op herhaalaankoop vs. 5-20% voor een nieuwe klant (Bain &amp; Company)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297680" y="365760"/>
            <a:ext cx="356616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Huidige retentiestrategieen</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Welke retentiestrategieen zet HEMA al in?</a:t>
            </a:r>
          </a:p>
        </p:txBody>
      </p:sp>
      <p:sp>
        <p:nvSpPr>
          <p:cNvPr id="6" name="TextBox 5"/>
          <p:cNvSpPr txBox="1"/>
          <p:nvPr/>
        </p:nvSpPr>
        <p:spPr>
          <a:xfrm>
            <a:off x="1828800" y="1554480"/>
            <a:ext cx="8534095" cy="457200"/>
          </a:xfrm>
          <a:prstGeom prst="rect">
            <a:avLst/>
          </a:prstGeom>
          <a:noFill/>
        </p:spPr>
        <p:txBody>
          <a:bodyPr wrap="square">
            <a:spAutoFit/>
          </a:bodyPr>
          <a:lstStyle/>
          <a:p>
            <a:pPr algn="ctr"/>
            <a:r>
              <a:rPr sz="1500" b="0">
                <a:solidFill>
                  <a:srgbClr val="86868B"/>
                </a:solidFill>
                <a:latin typeface="Calibri"/>
              </a:rPr>
              <a:t>Op basis van het Frankwatching-artikel over retentiemarketing en onze analyse</a:t>
            </a:r>
          </a:p>
        </p:txBody>
      </p:sp>
      <p:sp>
        <p:nvSpPr>
          <p:cNvPr id="7" name="Rounded Rectangle 6"/>
          <p:cNvSpPr/>
          <p:nvPr/>
        </p:nvSpPr>
        <p:spPr>
          <a:xfrm>
            <a:off x="548640" y="2194560"/>
            <a:ext cx="3474720" cy="201168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86000"/>
            <a:ext cx="457200" cy="365760"/>
          </a:xfrm>
          <a:prstGeom prst="rect">
            <a:avLst/>
          </a:prstGeom>
          <a:noFill/>
        </p:spPr>
        <p:txBody>
          <a:bodyPr wrap="square">
            <a:spAutoFit/>
          </a:bodyPr>
          <a:lstStyle/>
          <a:p>
            <a:pPr algn="l"/>
            <a:r>
              <a:rPr sz="2000" b="0">
                <a:solidFill>
                  <a:srgbClr val="1D1D1F"/>
                </a:solidFill>
                <a:latin typeface="Calibri"/>
              </a:rPr>
              <a:t>🎯</a:t>
            </a:r>
          </a:p>
        </p:txBody>
      </p:sp>
      <p:sp>
        <p:nvSpPr>
          <p:cNvPr id="9" name="TextBox 8"/>
          <p:cNvSpPr txBox="1"/>
          <p:nvPr/>
        </p:nvSpPr>
        <p:spPr>
          <a:xfrm>
            <a:off x="1188720" y="2286000"/>
            <a:ext cx="2560320" cy="320040"/>
          </a:xfrm>
          <a:prstGeom prst="rect">
            <a:avLst/>
          </a:prstGeom>
          <a:noFill/>
        </p:spPr>
        <p:txBody>
          <a:bodyPr wrap="square">
            <a:spAutoFit/>
          </a:bodyPr>
          <a:lstStyle/>
          <a:p>
            <a:pPr algn="l"/>
            <a:r>
              <a:rPr sz="1500" b="1">
                <a:solidFill>
                  <a:srgbClr val="1D1D1F"/>
                </a:solidFill>
                <a:latin typeface="Calibri"/>
              </a:rPr>
              <a:t>Loyaliteitsprogramma</a:t>
            </a:r>
          </a:p>
        </p:txBody>
      </p:sp>
      <p:sp>
        <p:nvSpPr>
          <p:cNvPr id="10" name="TextBox 9"/>
          <p:cNvSpPr txBox="1"/>
          <p:nvPr/>
        </p:nvSpPr>
        <p:spPr>
          <a:xfrm>
            <a:off x="1188720" y="2606040"/>
            <a:ext cx="2560320" cy="274320"/>
          </a:xfrm>
          <a:prstGeom prst="rect">
            <a:avLst/>
          </a:prstGeom>
          <a:noFill/>
        </p:spPr>
        <p:txBody>
          <a:bodyPr wrap="square">
            <a:spAutoFit/>
          </a:bodyPr>
          <a:lstStyle/>
          <a:p>
            <a:pPr algn="l"/>
            <a:r>
              <a:rPr sz="1100" b="0">
                <a:solidFill>
                  <a:srgbClr val="E4002B"/>
                </a:solidFill>
                <a:latin typeface="Calibri"/>
              </a:rPr>
              <a:t>HEMA Pas</a:t>
            </a:r>
          </a:p>
        </p:txBody>
      </p:sp>
      <p:sp>
        <p:nvSpPr>
          <p:cNvPr id="11" name="TextBox 10"/>
          <p:cNvSpPr txBox="1"/>
          <p:nvPr/>
        </p:nvSpPr>
        <p:spPr>
          <a:xfrm>
            <a:off x="822960" y="2926080"/>
            <a:ext cx="2926080" cy="1188720"/>
          </a:xfrm>
          <a:prstGeom prst="rect">
            <a:avLst/>
          </a:prstGeom>
          <a:noFill/>
        </p:spPr>
        <p:txBody>
          <a:bodyPr wrap="square">
            <a:spAutoFit/>
          </a:bodyPr>
          <a:lstStyle/>
          <a:p>
            <a:pPr>
              <a:spcAft>
                <a:spcPts val="300"/>
              </a:spcAft>
            </a:pPr>
            <a:r>
              <a:rPr sz="1100">
                <a:solidFill>
                  <a:srgbClr val="1D1D1F"/>
                </a:solidFill>
                <a:latin typeface="Calibri"/>
              </a:rPr>
              <a:t>  Spaarpunten bij elke aankoop</a:t>
            </a:r>
          </a:p>
          <a:p>
            <a:pPr>
              <a:spcAft>
                <a:spcPts val="300"/>
              </a:spcAft>
            </a:pPr>
            <a:r>
              <a:rPr sz="1100">
                <a:solidFill>
                  <a:srgbClr val="1D1D1F"/>
                </a:solidFill>
                <a:latin typeface="Calibri"/>
              </a:rPr>
              <a:t>  Gratis tompouce op je verjaardag</a:t>
            </a:r>
          </a:p>
          <a:p>
            <a:pPr>
              <a:spcAft>
                <a:spcPts val="300"/>
              </a:spcAft>
            </a:pPr>
            <a:r>
              <a:rPr sz="1100">
                <a:solidFill>
                  <a:srgbClr val="1D1D1F"/>
                </a:solidFill>
                <a:latin typeface="Calibri"/>
              </a:rPr>
              <a:t>  Gratis koffie/thee in de winkel</a:t>
            </a:r>
          </a:p>
          <a:p>
            <a:pPr>
              <a:spcAft>
                <a:spcPts val="300"/>
              </a:spcAft>
            </a:pPr>
            <a:r>
              <a:rPr sz="1100">
                <a:solidFill>
                  <a:srgbClr val="1D1D1F"/>
                </a:solidFill>
                <a:latin typeface="Calibri"/>
              </a:rPr>
              <a:t>  Persoonlijke aanbiedingen via app</a:t>
            </a:r>
          </a:p>
          <a:p>
            <a:pPr>
              <a:spcAft>
                <a:spcPts val="300"/>
              </a:spcAft>
            </a:pPr>
            <a:r>
              <a:rPr sz="1100">
                <a:solidFill>
                  <a:srgbClr val="1D1D1F"/>
                </a:solidFill>
                <a:latin typeface="Calibri"/>
              </a:rPr>
              <a:t>  25 bonuspunten bij registratie</a:t>
            </a:r>
          </a:p>
        </p:txBody>
      </p:sp>
      <p:sp>
        <p:nvSpPr>
          <p:cNvPr id="12" name="Rounded Rectangle 11"/>
          <p:cNvSpPr/>
          <p:nvPr/>
        </p:nvSpPr>
        <p:spPr>
          <a:xfrm>
            <a:off x="4297679" y="2194560"/>
            <a:ext cx="3474720" cy="201168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0559" y="2286000"/>
            <a:ext cx="457200" cy="365760"/>
          </a:xfrm>
          <a:prstGeom prst="rect">
            <a:avLst/>
          </a:prstGeom>
          <a:noFill/>
        </p:spPr>
        <p:txBody>
          <a:bodyPr wrap="square">
            <a:spAutoFit/>
          </a:bodyPr>
          <a:lstStyle/>
          <a:p>
            <a:pPr algn="l"/>
            <a:r>
              <a:rPr sz="2000" b="0">
                <a:solidFill>
                  <a:srgbClr val="1D1D1F"/>
                </a:solidFill>
                <a:latin typeface="Calibri"/>
              </a:rPr>
              <a:t>📧</a:t>
            </a:r>
          </a:p>
        </p:txBody>
      </p:sp>
      <p:sp>
        <p:nvSpPr>
          <p:cNvPr id="14" name="TextBox 13"/>
          <p:cNvSpPr txBox="1"/>
          <p:nvPr/>
        </p:nvSpPr>
        <p:spPr>
          <a:xfrm>
            <a:off x="4937759" y="2286000"/>
            <a:ext cx="2560320" cy="320040"/>
          </a:xfrm>
          <a:prstGeom prst="rect">
            <a:avLst/>
          </a:prstGeom>
          <a:noFill/>
        </p:spPr>
        <p:txBody>
          <a:bodyPr wrap="square">
            <a:spAutoFit/>
          </a:bodyPr>
          <a:lstStyle/>
          <a:p>
            <a:pPr algn="l"/>
            <a:r>
              <a:rPr sz="1500" b="1">
                <a:solidFill>
                  <a:srgbClr val="1D1D1F"/>
                </a:solidFill>
                <a:latin typeface="Calibri"/>
              </a:rPr>
              <a:t>E-mail &amp; contactmomenten</a:t>
            </a:r>
          </a:p>
        </p:txBody>
      </p:sp>
      <p:sp>
        <p:nvSpPr>
          <p:cNvPr id="15" name="TextBox 14"/>
          <p:cNvSpPr txBox="1"/>
          <p:nvPr/>
        </p:nvSpPr>
        <p:spPr>
          <a:xfrm>
            <a:off x="4937759" y="2606040"/>
            <a:ext cx="2560320" cy="274320"/>
          </a:xfrm>
          <a:prstGeom prst="rect">
            <a:avLst/>
          </a:prstGeom>
          <a:noFill/>
        </p:spPr>
        <p:txBody>
          <a:bodyPr wrap="square">
            <a:spAutoFit/>
          </a:bodyPr>
          <a:lstStyle/>
          <a:p>
            <a:pPr algn="l"/>
            <a:r>
              <a:rPr sz="1100" b="0">
                <a:solidFill>
                  <a:srgbClr val="E4002B"/>
                </a:solidFill>
                <a:latin typeface="Calibri"/>
              </a:rPr>
              <a:t>Timing &amp; nurturing</a:t>
            </a:r>
          </a:p>
        </p:txBody>
      </p:sp>
      <p:sp>
        <p:nvSpPr>
          <p:cNvPr id="16" name="TextBox 15"/>
          <p:cNvSpPr txBox="1"/>
          <p:nvPr/>
        </p:nvSpPr>
        <p:spPr>
          <a:xfrm>
            <a:off x="4571999" y="2926080"/>
            <a:ext cx="2926080" cy="1188720"/>
          </a:xfrm>
          <a:prstGeom prst="rect">
            <a:avLst/>
          </a:prstGeom>
          <a:noFill/>
        </p:spPr>
        <p:txBody>
          <a:bodyPr wrap="square">
            <a:spAutoFit/>
          </a:bodyPr>
          <a:lstStyle/>
          <a:p>
            <a:pPr>
              <a:spcAft>
                <a:spcPts val="300"/>
              </a:spcAft>
            </a:pPr>
            <a:r>
              <a:rPr sz="1100">
                <a:solidFill>
                  <a:srgbClr val="1D1D1F"/>
                </a:solidFill>
                <a:latin typeface="Calibri"/>
              </a:rPr>
              <a:t>  Nieuwsbrief met persoonlijke acties</a:t>
            </a:r>
          </a:p>
          <a:p>
            <a:pPr>
              <a:spcAft>
                <a:spcPts val="300"/>
              </a:spcAft>
            </a:pPr>
            <a:r>
              <a:rPr sz="1100">
                <a:solidFill>
                  <a:srgbClr val="1D1D1F"/>
                </a:solidFill>
                <a:latin typeface="Calibri"/>
              </a:rPr>
              <a:t>  Abandoned cart e-mails</a:t>
            </a:r>
          </a:p>
          <a:p>
            <a:pPr>
              <a:spcAft>
                <a:spcPts val="300"/>
              </a:spcAft>
            </a:pPr>
            <a:r>
              <a:rPr sz="1100">
                <a:solidFill>
                  <a:srgbClr val="1D1D1F"/>
                </a:solidFill>
                <a:latin typeface="Calibri"/>
              </a:rPr>
              <a:t>  Seizoensgebonden campagnes</a:t>
            </a:r>
          </a:p>
          <a:p>
            <a:pPr>
              <a:spcAft>
                <a:spcPts val="300"/>
              </a:spcAft>
            </a:pPr>
            <a:r>
              <a:rPr sz="1100">
                <a:solidFill>
                  <a:srgbClr val="1D1D1F"/>
                </a:solidFill>
                <a:latin typeface="Calibri"/>
              </a:rPr>
              <a:t>  10% welkomstkorting bij inschrijving</a:t>
            </a:r>
          </a:p>
          <a:p>
            <a:pPr>
              <a:spcAft>
                <a:spcPts val="300"/>
              </a:spcAft>
            </a:pPr>
            <a:r>
              <a:rPr sz="1100">
                <a:solidFill>
                  <a:srgbClr val="1D1D1F"/>
                </a:solidFill>
                <a:latin typeface="Calibri"/>
              </a:rPr>
              <a:t>  Orderbevestiging &amp; nazorg-mails</a:t>
            </a:r>
          </a:p>
        </p:txBody>
      </p:sp>
      <p:sp>
        <p:nvSpPr>
          <p:cNvPr id="17" name="Rounded Rectangle 16"/>
          <p:cNvSpPr/>
          <p:nvPr/>
        </p:nvSpPr>
        <p:spPr>
          <a:xfrm>
            <a:off x="8046718" y="2194560"/>
            <a:ext cx="3474720" cy="201168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29598" y="2286000"/>
            <a:ext cx="457200" cy="365760"/>
          </a:xfrm>
          <a:prstGeom prst="rect">
            <a:avLst/>
          </a:prstGeom>
          <a:noFill/>
        </p:spPr>
        <p:txBody>
          <a:bodyPr wrap="square">
            <a:spAutoFit/>
          </a:bodyPr>
          <a:lstStyle/>
          <a:p>
            <a:pPr algn="l"/>
            <a:r>
              <a:rPr sz="2000" b="0">
                <a:solidFill>
                  <a:srgbClr val="1D1D1F"/>
                </a:solidFill>
                <a:latin typeface="Calibri"/>
              </a:rPr>
              <a:t>🛒</a:t>
            </a:r>
          </a:p>
        </p:txBody>
      </p:sp>
      <p:sp>
        <p:nvSpPr>
          <p:cNvPr id="19" name="TextBox 18"/>
          <p:cNvSpPr txBox="1"/>
          <p:nvPr/>
        </p:nvSpPr>
        <p:spPr>
          <a:xfrm>
            <a:off x="8686798" y="2286000"/>
            <a:ext cx="2560320" cy="320040"/>
          </a:xfrm>
          <a:prstGeom prst="rect">
            <a:avLst/>
          </a:prstGeom>
          <a:noFill/>
        </p:spPr>
        <p:txBody>
          <a:bodyPr wrap="square">
            <a:spAutoFit/>
          </a:bodyPr>
          <a:lstStyle/>
          <a:p>
            <a:pPr algn="l"/>
            <a:r>
              <a:rPr sz="1500" b="1">
                <a:solidFill>
                  <a:srgbClr val="1D1D1F"/>
                </a:solidFill>
                <a:latin typeface="Calibri"/>
              </a:rPr>
              <a:t>Cross- &amp; upselling</a:t>
            </a:r>
          </a:p>
        </p:txBody>
      </p:sp>
      <p:sp>
        <p:nvSpPr>
          <p:cNvPr id="20" name="TextBox 19"/>
          <p:cNvSpPr txBox="1"/>
          <p:nvPr/>
        </p:nvSpPr>
        <p:spPr>
          <a:xfrm>
            <a:off x="8686798" y="2606040"/>
            <a:ext cx="2560320" cy="274320"/>
          </a:xfrm>
          <a:prstGeom prst="rect">
            <a:avLst/>
          </a:prstGeom>
          <a:noFill/>
        </p:spPr>
        <p:txBody>
          <a:bodyPr wrap="square">
            <a:spAutoFit/>
          </a:bodyPr>
          <a:lstStyle/>
          <a:p>
            <a:pPr algn="l"/>
            <a:r>
              <a:rPr sz="1100" b="0">
                <a:solidFill>
                  <a:srgbClr val="E4002B"/>
                </a:solidFill>
                <a:latin typeface="Calibri"/>
              </a:rPr>
              <a:t>Meer waarde per klant</a:t>
            </a:r>
          </a:p>
        </p:txBody>
      </p:sp>
      <p:sp>
        <p:nvSpPr>
          <p:cNvPr id="21" name="TextBox 20"/>
          <p:cNvSpPr txBox="1"/>
          <p:nvPr/>
        </p:nvSpPr>
        <p:spPr>
          <a:xfrm>
            <a:off x="8321038" y="2926080"/>
            <a:ext cx="2926080" cy="1188720"/>
          </a:xfrm>
          <a:prstGeom prst="rect">
            <a:avLst/>
          </a:prstGeom>
          <a:noFill/>
        </p:spPr>
        <p:txBody>
          <a:bodyPr wrap="square">
            <a:spAutoFit/>
          </a:bodyPr>
          <a:lstStyle/>
          <a:p>
            <a:pPr>
              <a:spcAft>
                <a:spcPts val="300"/>
              </a:spcAft>
            </a:pPr>
            <a:r>
              <a:rPr sz="1100">
                <a:solidFill>
                  <a:srgbClr val="1D1D1F"/>
                </a:solidFill>
                <a:latin typeface="Calibri"/>
              </a:rPr>
              <a:t>  'Shop de set' - combinaties tonen</a:t>
            </a:r>
          </a:p>
          <a:p>
            <a:pPr>
              <a:spcAft>
                <a:spcPts val="300"/>
              </a:spcAft>
            </a:pPr>
            <a:r>
              <a:rPr sz="1100">
                <a:solidFill>
                  <a:srgbClr val="1D1D1F"/>
                </a:solidFill>
                <a:latin typeface="Calibri"/>
              </a:rPr>
              <a:t>  'Klanten kochten ook' aanbevelingen</a:t>
            </a:r>
          </a:p>
          <a:p>
            <a:pPr>
              <a:spcAft>
                <a:spcPts val="300"/>
              </a:spcAft>
            </a:pPr>
            <a:r>
              <a:rPr sz="1100">
                <a:solidFill>
                  <a:srgbClr val="1D1D1F"/>
                </a:solidFill>
                <a:latin typeface="Calibri"/>
              </a:rPr>
              <a:t>  Thema-carousels (Pasen, zomer)</a:t>
            </a:r>
          </a:p>
          <a:p>
            <a:pPr>
              <a:spcAft>
                <a:spcPts val="300"/>
              </a:spcAft>
            </a:pPr>
            <a:r>
              <a:rPr sz="1100">
                <a:solidFill>
                  <a:srgbClr val="1D1D1F"/>
                </a:solidFill>
                <a:latin typeface="Calibri"/>
              </a:rPr>
              <a:t>  Bundelprijzen &amp; stapelkorting</a:t>
            </a:r>
          </a:p>
          <a:p>
            <a:pPr>
              <a:spcAft>
                <a:spcPts val="300"/>
              </a:spcAft>
            </a:pPr>
            <a:r>
              <a:rPr sz="1100">
                <a:solidFill>
                  <a:srgbClr val="1D1D1F"/>
                </a:solidFill>
                <a:latin typeface="Calibri"/>
              </a:rPr>
              <a:t>  Recent bekeken producten</a:t>
            </a:r>
          </a:p>
        </p:txBody>
      </p:sp>
      <p:sp>
        <p:nvSpPr>
          <p:cNvPr id="22" name="Rounded Rectangle 21"/>
          <p:cNvSpPr/>
          <p:nvPr/>
        </p:nvSpPr>
        <p:spPr>
          <a:xfrm>
            <a:off x="2423160" y="4480560"/>
            <a:ext cx="3474720" cy="201168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606040" y="4572000"/>
            <a:ext cx="457200" cy="365760"/>
          </a:xfrm>
          <a:prstGeom prst="rect">
            <a:avLst/>
          </a:prstGeom>
          <a:noFill/>
        </p:spPr>
        <p:txBody>
          <a:bodyPr wrap="square">
            <a:spAutoFit/>
          </a:bodyPr>
          <a:lstStyle/>
          <a:p>
            <a:pPr algn="l"/>
            <a:r>
              <a:rPr sz="2000" b="0">
                <a:solidFill>
                  <a:srgbClr val="1D1D1F"/>
                </a:solidFill>
                <a:latin typeface="Calibri"/>
              </a:rPr>
              <a:t>📱</a:t>
            </a:r>
          </a:p>
        </p:txBody>
      </p:sp>
      <p:sp>
        <p:nvSpPr>
          <p:cNvPr id="24" name="TextBox 23"/>
          <p:cNvSpPr txBox="1"/>
          <p:nvPr/>
        </p:nvSpPr>
        <p:spPr>
          <a:xfrm>
            <a:off x="3063240" y="4572000"/>
            <a:ext cx="2560320" cy="320040"/>
          </a:xfrm>
          <a:prstGeom prst="rect">
            <a:avLst/>
          </a:prstGeom>
          <a:noFill/>
        </p:spPr>
        <p:txBody>
          <a:bodyPr wrap="square">
            <a:spAutoFit/>
          </a:bodyPr>
          <a:lstStyle/>
          <a:p>
            <a:pPr algn="l"/>
            <a:r>
              <a:rPr sz="1500" b="1">
                <a:solidFill>
                  <a:srgbClr val="1D1D1F"/>
                </a:solidFill>
                <a:latin typeface="Calibri"/>
              </a:rPr>
              <a:t>Personalisatie</a:t>
            </a:r>
          </a:p>
        </p:txBody>
      </p:sp>
      <p:sp>
        <p:nvSpPr>
          <p:cNvPr id="25" name="TextBox 24"/>
          <p:cNvSpPr txBox="1"/>
          <p:nvPr/>
        </p:nvSpPr>
        <p:spPr>
          <a:xfrm>
            <a:off x="3063240" y="4892040"/>
            <a:ext cx="2560320" cy="274320"/>
          </a:xfrm>
          <a:prstGeom prst="rect">
            <a:avLst/>
          </a:prstGeom>
          <a:noFill/>
        </p:spPr>
        <p:txBody>
          <a:bodyPr wrap="square">
            <a:spAutoFit/>
          </a:bodyPr>
          <a:lstStyle/>
          <a:p>
            <a:pPr algn="l"/>
            <a:r>
              <a:rPr sz="1100" b="0">
                <a:solidFill>
                  <a:srgbClr val="E4002B"/>
                </a:solidFill>
                <a:latin typeface="Calibri"/>
              </a:rPr>
              <a:t>Op maat voor de klant</a:t>
            </a:r>
          </a:p>
        </p:txBody>
      </p:sp>
      <p:sp>
        <p:nvSpPr>
          <p:cNvPr id="26" name="TextBox 25"/>
          <p:cNvSpPr txBox="1"/>
          <p:nvPr/>
        </p:nvSpPr>
        <p:spPr>
          <a:xfrm>
            <a:off x="2697480" y="5212080"/>
            <a:ext cx="2926080" cy="1188720"/>
          </a:xfrm>
          <a:prstGeom prst="rect">
            <a:avLst/>
          </a:prstGeom>
          <a:noFill/>
        </p:spPr>
        <p:txBody>
          <a:bodyPr wrap="square">
            <a:spAutoFit/>
          </a:bodyPr>
          <a:lstStyle/>
          <a:p>
            <a:pPr>
              <a:spcAft>
                <a:spcPts val="300"/>
              </a:spcAft>
            </a:pPr>
            <a:r>
              <a:rPr sz="1100">
                <a:solidFill>
                  <a:srgbClr val="1D1D1F"/>
                </a:solidFill>
                <a:latin typeface="Calibri"/>
              </a:rPr>
              <a:t>  Aanbevelingen o.b.v. koopgedrag</a:t>
            </a:r>
          </a:p>
          <a:p>
            <a:pPr>
              <a:spcAft>
                <a:spcPts val="300"/>
              </a:spcAft>
            </a:pPr>
            <a:r>
              <a:rPr sz="1100">
                <a:solidFill>
                  <a:srgbClr val="1D1D1F"/>
                </a:solidFill>
                <a:latin typeface="Calibri"/>
              </a:rPr>
              <a:t>  HEMA Pas: persoonlijke aanbiedingen</a:t>
            </a:r>
          </a:p>
          <a:p>
            <a:pPr>
              <a:spcAft>
                <a:spcPts val="300"/>
              </a:spcAft>
            </a:pPr>
            <a:r>
              <a:rPr sz="1100">
                <a:solidFill>
                  <a:srgbClr val="1D1D1F"/>
                </a:solidFill>
                <a:latin typeface="Calibri"/>
              </a:rPr>
              <a:t>  Recent bekeken producten</a:t>
            </a:r>
          </a:p>
          <a:p>
            <a:pPr>
              <a:spcAft>
                <a:spcPts val="300"/>
              </a:spcAft>
            </a:pPr>
            <a:r>
              <a:rPr sz="1100">
                <a:solidFill>
                  <a:srgbClr val="1D1D1F"/>
                </a:solidFill>
                <a:latin typeface="Calibri"/>
              </a:rPr>
              <a:t>  Gepersonaliseerde e-mailcontent</a:t>
            </a:r>
          </a:p>
          <a:p>
            <a:pPr>
              <a:spcAft>
                <a:spcPts val="300"/>
              </a:spcAft>
            </a:pPr>
            <a:r>
              <a:rPr sz="1100">
                <a:solidFill>
                  <a:srgbClr val="1D1D1F"/>
                </a:solidFill>
                <a:latin typeface="Calibri"/>
              </a:rPr>
              <a:t>  Account met bestelhistorie</a:t>
            </a:r>
          </a:p>
        </p:txBody>
      </p:sp>
      <p:sp>
        <p:nvSpPr>
          <p:cNvPr id="27" name="Rounded Rectangle 26"/>
          <p:cNvSpPr/>
          <p:nvPr/>
        </p:nvSpPr>
        <p:spPr>
          <a:xfrm>
            <a:off x="6172199" y="4480560"/>
            <a:ext cx="3474720" cy="201168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55079" y="4572000"/>
            <a:ext cx="457200" cy="365760"/>
          </a:xfrm>
          <a:prstGeom prst="rect">
            <a:avLst/>
          </a:prstGeom>
          <a:noFill/>
        </p:spPr>
        <p:txBody>
          <a:bodyPr wrap="square">
            <a:spAutoFit/>
          </a:bodyPr>
          <a:lstStyle/>
          <a:p>
            <a:pPr algn="l"/>
            <a:r>
              <a:rPr sz="2000" b="0">
                <a:solidFill>
                  <a:srgbClr val="1D1D1F"/>
                </a:solidFill>
                <a:latin typeface="Calibri"/>
              </a:rPr>
              <a:t>👥</a:t>
            </a:r>
          </a:p>
        </p:txBody>
      </p:sp>
      <p:sp>
        <p:nvSpPr>
          <p:cNvPr id="29" name="TextBox 28"/>
          <p:cNvSpPr txBox="1"/>
          <p:nvPr/>
        </p:nvSpPr>
        <p:spPr>
          <a:xfrm>
            <a:off x="6812279" y="4572000"/>
            <a:ext cx="2560320" cy="320040"/>
          </a:xfrm>
          <a:prstGeom prst="rect">
            <a:avLst/>
          </a:prstGeom>
          <a:noFill/>
        </p:spPr>
        <p:txBody>
          <a:bodyPr wrap="square">
            <a:spAutoFit/>
          </a:bodyPr>
          <a:lstStyle/>
          <a:p>
            <a:pPr algn="l"/>
            <a:r>
              <a:rPr sz="1500" b="1">
                <a:solidFill>
                  <a:srgbClr val="1D1D1F"/>
                </a:solidFill>
                <a:latin typeface="Calibri"/>
              </a:rPr>
              <a:t>Content &amp; community</a:t>
            </a:r>
          </a:p>
        </p:txBody>
      </p:sp>
      <p:sp>
        <p:nvSpPr>
          <p:cNvPr id="30" name="TextBox 29"/>
          <p:cNvSpPr txBox="1"/>
          <p:nvPr/>
        </p:nvSpPr>
        <p:spPr>
          <a:xfrm>
            <a:off x="6812279" y="4892040"/>
            <a:ext cx="2560320" cy="274320"/>
          </a:xfrm>
          <a:prstGeom prst="rect">
            <a:avLst/>
          </a:prstGeom>
          <a:noFill/>
        </p:spPr>
        <p:txBody>
          <a:bodyPr wrap="square">
            <a:spAutoFit/>
          </a:bodyPr>
          <a:lstStyle/>
          <a:p>
            <a:pPr algn="l"/>
            <a:r>
              <a:rPr sz="1100" b="0">
                <a:solidFill>
                  <a:srgbClr val="E4002B"/>
                </a:solidFill>
                <a:latin typeface="Calibri"/>
              </a:rPr>
              <a:t>Klantrelatie versterken</a:t>
            </a:r>
          </a:p>
        </p:txBody>
      </p:sp>
      <p:sp>
        <p:nvSpPr>
          <p:cNvPr id="31" name="TextBox 30"/>
          <p:cNvSpPr txBox="1"/>
          <p:nvPr/>
        </p:nvSpPr>
        <p:spPr>
          <a:xfrm>
            <a:off x="6446519" y="5212080"/>
            <a:ext cx="2926080" cy="1188720"/>
          </a:xfrm>
          <a:prstGeom prst="rect">
            <a:avLst/>
          </a:prstGeom>
          <a:noFill/>
        </p:spPr>
        <p:txBody>
          <a:bodyPr wrap="square">
            <a:spAutoFit/>
          </a:bodyPr>
          <a:lstStyle/>
          <a:p>
            <a:pPr>
              <a:spcAft>
                <a:spcPts val="300"/>
              </a:spcAft>
            </a:pPr>
            <a:r>
              <a:rPr sz="1100">
                <a:solidFill>
                  <a:srgbClr val="1D1D1F"/>
                </a:solidFill>
                <a:latin typeface="Calibri"/>
              </a:rPr>
              <a:t>  Social media interactie (8 platforms)</a:t>
            </a:r>
          </a:p>
          <a:p>
            <a:pPr>
              <a:spcAft>
                <a:spcPts val="300"/>
              </a:spcAft>
            </a:pPr>
            <a:r>
              <a:rPr sz="1100">
                <a:solidFill>
                  <a:srgbClr val="1D1D1F"/>
                </a:solidFill>
                <a:latin typeface="Calibri"/>
              </a:rPr>
              <a:t>  Seizoenscampagnes (Sint, Pasen)</a:t>
            </a:r>
          </a:p>
          <a:p>
            <a:pPr>
              <a:spcAft>
                <a:spcPts val="300"/>
              </a:spcAft>
            </a:pPr>
            <a:r>
              <a:rPr sz="1100">
                <a:solidFill>
                  <a:srgbClr val="1D1D1F"/>
                </a:solidFill>
                <a:latin typeface="Calibri"/>
              </a:rPr>
              <a:t>  Pushnotificaties via de app</a:t>
            </a:r>
          </a:p>
          <a:p>
            <a:pPr>
              <a:spcAft>
                <a:spcPts val="300"/>
              </a:spcAft>
            </a:pPr>
            <a:r>
              <a:rPr sz="1100">
                <a:solidFill>
                  <a:srgbClr val="1D1D1F"/>
                </a:solidFill>
                <a:latin typeface="Calibri"/>
              </a:rPr>
              <a:t>  Klantenservice via live chat</a:t>
            </a:r>
          </a:p>
          <a:p>
            <a:pPr>
              <a:spcAft>
                <a:spcPts val="300"/>
              </a:spcAft>
            </a:pPr>
            <a:r>
              <a:rPr sz="1100">
                <a:solidFill>
                  <a:srgbClr val="1D1D1F"/>
                </a:solidFill>
                <a:latin typeface="Calibri"/>
              </a:rPr>
              <a:t>  Retourbeleid: 30 dagen, winkel + post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114800" y="365760"/>
            <a:ext cx="393192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Theoretische onderbouwing</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Retentie in de modellen: 6B, 8 C's &amp; BAIA</a:t>
            </a:r>
          </a:p>
        </p:txBody>
      </p:sp>
      <p:sp>
        <p:nvSpPr>
          <p:cNvPr id="6" name="Rounded Rectangle 5"/>
          <p:cNvSpPr/>
          <p:nvPr/>
        </p:nvSpPr>
        <p:spPr>
          <a:xfrm>
            <a:off x="457200" y="1828800"/>
            <a:ext cx="3566160" cy="45720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65960"/>
            <a:ext cx="3108960" cy="411480"/>
          </a:xfrm>
          <a:prstGeom prst="rect">
            <a:avLst/>
          </a:prstGeom>
          <a:noFill/>
        </p:spPr>
        <p:txBody>
          <a:bodyPr wrap="square">
            <a:spAutoFit/>
          </a:bodyPr>
          <a:lstStyle/>
          <a:p>
            <a:pPr algn="l"/>
            <a:r>
              <a:rPr sz="1600" b="1">
                <a:solidFill>
                  <a:srgbClr val="1D1D1F"/>
                </a:solidFill>
                <a:latin typeface="Calibri"/>
              </a:rPr>
              <a:t>6B-model (Visser &amp; Sikkenga)</a:t>
            </a:r>
          </a:p>
        </p:txBody>
      </p:sp>
      <p:sp>
        <p:nvSpPr>
          <p:cNvPr id="8" name="Rounded Rectangle 7"/>
          <p:cNvSpPr/>
          <p:nvPr/>
        </p:nvSpPr>
        <p:spPr>
          <a:xfrm>
            <a:off x="685800" y="2423160"/>
            <a:ext cx="2560320" cy="27432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4002B"/>
                </a:solidFill>
                <a:latin typeface="Calibri"/>
              </a:rPr>
              <a:t>Focus: fase 'Binden'</a:t>
            </a:r>
          </a:p>
        </p:txBody>
      </p:sp>
      <p:sp>
        <p:nvSpPr>
          <p:cNvPr id="9" name="Rounded Rectangle 8"/>
          <p:cNvSpPr/>
          <p:nvPr/>
        </p:nvSpPr>
        <p:spPr>
          <a:xfrm>
            <a:off x="3108960" y="1965960"/>
            <a:ext cx="640080" cy="365760"/>
          </a:xfrm>
          <a:prstGeom prst="roundRect">
            <a:avLst>
              <a:gd name="adj" fmla="val 5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600" b="1">
                <a:solidFill>
                  <a:srgbClr val="FFFFFF"/>
                </a:solidFill>
                <a:latin typeface="Calibri"/>
              </a:rPr>
              <a:t>8/10</a:t>
            </a:r>
          </a:p>
        </p:txBody>
      </p:sp>
      <p:sp>
        <p:nvSpPr>
          <p:cNvPr id="10" name="TextBox 9"/>
          <p:cNvSpPr txBox="1"/>
          <p:nvPr/>
        </p:nvSpPr>
        <p:spPr>
          <a:xfrm>
            <a:off x="685800" y="2880360"/>
            <a:ext cx="3108960" cy="3291840"/>
          </a:xfrm>
          <a:prstGeom prst="rect">
            <a:avLst/>
          </a:prstGeom>
          <a:noFill/>
        </p:spPr>
        <p:txBody>
          <a:bodyPr wrap="square">
            <a:spAutoFit/>
          </a:bodyPr>
          <a:lstStyle/>
          <a:p>
            <a:pPr>
              <a:spcAft>
                <a:spcPts val="500"/>
              </a:spcAft>
            </a:pPr>
            <a:r>
              <a:rPr sz="1200">
                <a:solidFill>
                  <a:srgbClr val="1D1D1F"/>
                </a:solidFill>
                <a:latin typeface="Calibri"/>
              </a:rPr>
              <a:t>  Binden scoort 8/10 bij HEMA</a:t>
            </a:r>
          </a:p>
          <a:p>
            <a:pPr>
              <a:spcAft>
                <a:spcPts val="500"/>
              </a:spcAft>
            </a:pPr>
            <a:r>
              <a:rPr sz="1200" b="1">
                <a:solidFill>
                  <a:srgbClr val="1D1D1F"/>
                </a:solidFill>
                <a:latin typeface="Calibri"/>
              </a:rPr>
              <a:t>KSF:</a:t>
            </a:r>
            <a:r>
              <a:rPr sz="1200" b="0">
                <a:solidFill>
                  <a:srgbClr val="1D1D1F"/>
                </a:solidFill>
                <a:latin typeface="Calibri"/>
              </a:rPr>
              <a:t> loyaliteit &amp; retentie</a:t>
            </a:r>
          </a:p>
          <a:p>
            <a:pPr>
              <a:spcAft>
                <a:spcPts val="500"/>
              </a:spcAft>
            </a:pPr>
            <a:r>
              <a:rPr sz="1200">
                <a:solidFill>
                  <a:srgbClr val="1D1D1F"/>
                </a:solidFill>
                <a:latin typeface="Calibri"/>
              </a:rPr>
              <a:t>  HEMA Pas met spaarpunten</a:t>
            </a:r>
          </a:p>
          <a:p>
            <a:pPr>
              <a:spcAft>
                <a:spcPts val="500"/>
              </a:spcAft>
            </a:pPr>
            <a:r>
              <a:rPr sz="1200">
                <a:solidFill>
                  <a:srgbClr val="1D1D1F"/>
                </a:solidFill>
                <a:latin typeface="Calibri"/>
              </a:rPr>
              <a:t>  30 dagen retourbeleid</a:t>
            </a:r>
          </a:p>
          <a:p>
            <a:pPr>
              <a:spcAft>
                <a:spcPts val="500"/>
              </a:spcAft>
            </a:pPr>
            <a:r>
              <a:rPr sz="1200">
                <a:solidFill>
                  <a:srgbClr val="1D1D1F"/>
                </a:solidFill>
                <a:latin typeface="Calibri"/>
              </a:rPr>
              <a:t>  Persoonlijke e-mailaanbiedingen</a:t>
            </a:r>
          </a:p>
          <a:p>
            <a:pPr>
              <a:spcAft>
                <a:spcPts val="500"/>
              </a:spcAft>
            </a:pPr>
            <a:r>
              <a:rPr sz="1200">
                <a:solidFill>
                  <a:srgbClr val="1D1D1F"/>
                </a:solidFill>
                <a:latin typeface="Calibri"/>
              </a:rPr>
              <a:t>  App met pushnotificaties</a:t>
            </a:r>
          </a:p>
          <a:p>
            <a:pPr>
              <a:spcAft>
                <a:spcPts val="500"/>
              </a:spcAft>
            </a:pPr>
            <a:r>
              <a:rPr sz="1200" b="1">
                <a:solidFill>
                  <a:srgbClr val="1D1D1F"/>
                </a:solidFill>
                <a:latin typeface="Calibri"/>
              </a:rPr>
              <a:t>Maar:</a:t>
            </a:r>
            <a:r>
              <a:rPr sz="1200" b="0">
                <a:solidFill>
                  <a:srgbClr val="1D1D1F"/>
                </a:solidFill>
                <a:latin typeface="Calibri"/>
              </a:rPr>
              <a:t> geen exclusief loyaliteitsniveau</a:t>
            </a:r>
          </a:p>
        </p:txBody>
      </p:sp>
      <p:sp>
        <p:nvSpPr>
          <p:cNvPr id="11" name="Rounded Rectangle 10"/>
          <p:cNvSpPr/>
          <p:nvPr/>
        </p:nvSpPr>
        <p:spPr>
          <a:xfrm>
            <a:off x="4297680" y="1828800"/>
            <a:ext cx="3566160" cy="45720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26280" y="1965960"/>
            <a:ext cx="3108960" cy="411480"/>
          </a:xfrm>
          <a:prstGeom prst="rect">
            <a:avLst/>
          </a:prstGeom>
          <a:noFill/>
        </p:spPr>
        <p:txBody>
          <a:bodyPr wrap="square">
            <a:spAutoFit/>
          </a:bodyPr>
          <a:lstStyle/>
          <a:p>
            <a:pPr algn="l"/>
            <a:r>
              <a:rPr sz="1600" b="1">
                <a:solidFill>
                  <a:srgbClr val="1D1D1F"/>
                </a:solidFill>
                <a:latin typeface="Calibri"/>
              </a:rPr>
              <a:t>8 C's van e-loyaliteit</a:t>
            </a:r>
          </a:p>
        </p:txBody>
      </p:sp>
      <p:sp>
        <p:nvSpPr>
          <p:cNvPr id="13" name="Rounded Rectangle 12"/>
          <p:cNvSpPr/>
          <p:nvPr/>
        </p:nvSpPr>
        <p:spPr>
          <a:xfrm>
            <a:off x="4526280" y="2423160"/>
            <a:ext cx="2560320" cy="27432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4002B"/>
                </a:solidFill>
                <a:latin typeface="Calibri"/>
              </a:rPr>
              <a:t>Retentie-relevante C's</a:t>
            </a:r>
          </a:p>
        </p:txBody>
      </p:sp>
      <p:sp>
        <p:nvSpPr>
          <p:cNvPr id="14" name="TextBox 13"/>
          <p:cNvSpPr txBox="1"/>
          <p:nvPr/>
        </p:nvSpPr>
        <p:spPr>
          <a:xfrm>
            <a:off x="4526280" y="2880360"/>
            <a:ext cx="3108960" cy="3291840"/>
          </a:xfrm>
          <a:prstGeom prst="rect">
            <a:avLst/>
          </a:prstGeom>
          <a:noFill/>
        </p:spPr>
        <p:txBody>
          <a:bodyPr wrap="square">
            <a:spAutoFit/>
          </a:bodyPr>
          <a:lstStyle/>
          <a:p>
            <a:pPr>
              <a:spcAft>
                <a:spcPts val="500"/>
              </a:spcAft>
            </a:pPr>
            <a:r>
              <a:rPr sz="1200" b="1">
                <a:solidFill>
                  <a:srgbClr val="1D1D1F"/>
                </a:solidFill>
                <a:latin typeface="Calibri"/>
              </a:rPr>
              <a:t>Care:</a:t>
            </a:r>
            <a:r>
              <a:rPr sz="1200" b="0">
                <a:solidFill>
                  <a:srgbClr val="1D1D1F"/>
                </a:solidFill>
                <a:latin typeface="Calibri"/>
              </a:rPr>
              <a:t> klantenservice, retourbeleid, nazorg</a:t>
            </a:r>
          </a:p>
          <a:p>
            <a:pPr>
              <a:spcAft>
                <a:spcPts val="500"/>
              </a:spcAft>
            </a:pPr>
            <a:r>
              <a:rPr sz="1200" b="1">
                <a:solidFill>
                  <a:srgbClr val="1D1D1F"/>
                </a:solidFill>
                <a:latin typeface="Calibri"/>
              </a:rPr>
              <a:t>Cultivation:</a:t>
            </a:r>
            <a:r>
              <a:rPr sz="1200" b="0">
                <a:solidFill>
                  <a:srgbClr val="1D1D1F"/>
                </a:solidFill>
                <a:latin typeface="Calibri"/>
              </a:rPr>
              <a:t> nieuwsbrief, HEMA Pas-acties</a:t>
            </a:r>
          </a:p>
          <a:p>
            <a:pPr>
              <a:spcAft>
                <a:spcPts val="500"/>
              </a:spcAft>
            </a:pPr>
            <a:r>
              <a:rPr sz="1200" b="1">
                <a:solidFill>
                  <a:srgbClr val="1D1D1F"/>
                </a:solidFill>
                <a:latin typeface="Calibri"/>
              </a:rPr>
              <a:t>Customization:</a:t>
            </a:r>
            <a:r>
              <a:rPr sz="1200" b="0">
                <a:solidFill>
                  <a:srgbClr val="1D1D1F"/>
                </a:solidFill>
                <a:latin typeface="Calibri"/>
              </a:rPr>
              <a:t> personalisatie, aanbevelingen</a:t>
            </a:r>
          </a:p>
          <a:p>
            <a:pPr>
              <a:spcAft>
                <a:spcPts val="500"/>
              </a:spcAft>
            </a:pPr>
            <a:r>
              <a:rPr sz="1200" b="1">
                <a:solidFill>
                  <a:srgbClr val="1D1D1F"/>
                </a:solidFill>
                <a:latin typeface="Calibri"/>
              </a:rPr>
              <a:t>Community:</a:t>
            </a:r>
            <a:r>
              <a:rPr sz="1200" b="0">
                <a:solidFill>
                  <a:srgbClr val="1D1D1F"/>
                </a:solidFill>
                <a:latin typeface="Calibri"/>
              </a:rPr>
              <a:t> social media, maar beperkt UGC</a:t>
            </a:r>
          </a:p>
          <a:p>
            <a:pPr>
              <a:spcAft>
                <a:spcPts val="500"/>
              </a:spcAft>
            </a:pPr>
            <a:r>
              <a:rPr sz="1200" b="1">
                <a:solidFill>
                  <a:srgbClr val="1D1D1F"/>
                </a:solidFill>
                <a:latin typeface="Calibri"/>
              </a:rPr>
              <a:t>Contact interactivity:</a:t>
            </a:r>
            <a:r>
              <a:rPr sz="1200" b="0">
                <a:solidFill>
                  <a:srgbClr val="1D1D1F"/>
                </a:solidFill>
                <a:latin typeface="Calibri"/>
              </a:rPr>
              <a:t> live chat, e-mail</a:t>
            </a:r>
          </a:p>
          <a:p>
            <a:pPr>
              <a:spcAft>
                <a:spcPts val="500"/>
              </a:spcAft>
            </a:pPr>
            <a:r>
              <a:rPr sz="1200" b="1">
                <a:solidFill>
                  <a:srgbClr val="1D1D1F"/>
                </a:solidFill>
                <a:latin typeface="Calibri"/>
              </a:rPr>
              <a:t>Convenience:</a:t>
            </a:r>
            <a:r>
              <a:rPr sz="1200" b="0">
                <a:solidFill>
                  <a:srgbClr val="1D1D1F"/>
                </a:solidFill>
                <a:latin typeface="Calibri"/>
              </a:rPr>
              <a:t> omnichannel, Click &amp; Collect</a:t>
            </a:r>
          </a:p>
          <a:p>
            <a:pPr>
              <a:spcAft>
                <a:spcPts val="500"/>
              </a:spcAft>
            </a:pPr>
            <a:r>
              <a:rPr sz="1200">
                <a:solidFill>
                  <a:srgbClr val="1D1D1F"/>
                </a:solidFill>
                <a:latin typeface="Calibri"/>
              </a:rPr>
              <a:t>  Sterke basis, maar community kan beter</a:t>
            </a:r>
          </a:p>
        </p:txBody>
      </p:sp>
      <p:sp>
        <p:nvSpPr>
          <p:cNvPr id="15" name="Rounded Rectangle 14"/>
          <p:cNvSpPr/>
          <p:nvPr/>
        </p:nvSpPr>
        <p:spPr>
          <a:xfrm>
            <a:off x="8138160" y="1828800"/>
            <a:ext cx="3566160" cy="45720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66760" y="1965960"/>
            <a:ext cx="3108960" cy="411480"/>
          </a:xfrm>
          <a:prstGeom prst="rect">
            <a:avLst/>
          </a:prstGeom>
          <a:noFill/>
        </p:spPr>
        <p:txBody>
          <a:bodyPr wrap="square">
            <a:spAutoFit/>
          </a:bodyPr>
          <a:lstStyle/>
          <a:p>
            <a:pPr algn="l"/>
            <a:r>
              <a:rPr sz="1600" b="1">
                <a:solidFill>
                  <a:srgbClr val="1D1D1F"/>
                </a:solidFill>
                <a:latin typeface="Calibri"/>
              </a:rPr>
              <a:t>BAIA-model</a:t>
            </a:r>
          </a:p>
        </p:txBody>
      </p:sp>
      <p:sp>
        <p:nvSpPr>
          <p:cNvPr id="17" name="Rounded Rectangle 16"/>
          <p:cNvSpPr/>
          <p:nvPr/>
        </p:nvSpPr>
        <p:spPr>
          <a:xfrm>
            <a:off x="8366760" y="2423160"/>
            <a:ext cx="2560320" cy="27432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4002B"/>
                </a:solidFill>
                <a:latin typeface="Calibri"/>
              </a:rPr>
              <a:t>Retentie in de 'Interactie' &amp; 'Actie' fase</a:t>
            </a:r>
          </a:p>
        </p:txBody>
      </p:sp>
      <p:sp>
        <p:nvSpPr>
          <p:cNvPr id="18" name="TextBox 17"/>
          <p:cNvSpPr txBox="1"/>
          <p:nvPr/>
        </p:nvSpPr>
        <p:spPr>
          <a:xfrm>
            <a:off x="8366760" y="2880360"/>
            <a:ext cx="3108960" cy="3291840"/>
          </a:xfrm>
          <a:prstGeom prst="rect">
            <a:avLst/>
          </a:prstGeom>
          <a:noFill/>
        </p:spPr>
        <p:txBody>
          <a:bodyPr wrap="square">
            <a:spAutoFit/>
          </a:bodyPr>
          <a:lstStyle/>
          <a:p>
            <a:pPr>
              <a:spcAft>
                <a:spcPts val="500"/>
              </a:spcAft>
            </a:pPr>
            <a:r>
              <a:rPr sz="1200" b="1">
                <a:solidFill>
                  <a:srgbClr val="1D1D1F"/>
                </a:solidFill>
                <a:latin typeface="Calibri"/>
              </a:rPr>
              <a:t>Interactie:</a:t>
            </a:r>
            <a:r>
              <a:rPr sz="1200" b="0">
                <a:solidFill>
                  <a:srgbClr val="1D1D1F"/>
                </a:solidFill>
                <a:latin typeface="Calibri"/>
              </a:rPr>
              <a:t> personalisatie via account</a:t>
            </a:r>
          </a:p>
          <a:p>
            <a:pPr>
              <a:spcAft>
                <a:spcPts val="500"/>
              </a:spcAft>
            </a:pPr>
            <a:r>
              <a:rPr sz="1200" b="1">
                <a:solidFill>
                  <a:srgbClr val="1D1D1F"/>
                </a:solidFill>
                <a:latin typeface="Calibri"/>
              </a:rPr>
              <a:t>Interactie:</a:t>
            </a:r>
            <a:r>
              <a:rPr sz="1200" b="0">
                <a:solidFill>
                  <a:srgbClr val="1D1D1F"/>
                </a:solidFill>
                <a:latin typeface="Calibri"/>
              </a:rPr>
              <a:t> HEMA Pas spaarpunten</a:t>
            </a:r>
          </a:p>
          <a:p>
            <a:pPr>
              <a:spcAft>
                <a:spcPts val="500"/>
              </a:spcAft>
            </a:pPr>
            <a:r>
              <a:rPr sz="1200" b="1">
                <a:solidFill>
                  <a:srgbClr val="1D1D1F"/>
                </a:solidFill>
                <a:latin typeface="Calibri"/>
              </a:rPr>
              <a:t>Interactie:</a:t>
            </a:r>
            <a:r>
              <a:rPr sz="1200" b="0">
                <a:solidFill>
                  <a:srgbClr val="1D1D1F"/>
                </a:solidFill>
                <a:latin typeface="Calibri"/>
              </a:rPr>
              <a:t> live chat klantenservice</a:t>
            </a:r>
          </a:p>
          <a:p>
            <a:pPr>
              <a:spcAft>
                <a:spcPts val="500"/>
              </a:spcAft>
            </a:pPr>
            <a:r>
              <a:rPr sz="1200" b="1">
                <a:solidFill>
                  <a:srgbClr val="1D1D1F"/>
                </a:solidFill>
                <a:latin typeface="Calibri"/>
              </a:rPr>
              <a:t>Actie:</a:t>
            </a:r>
            <a:r>
              <a:rPr sz="1200" b="0">
                <a:solidFill>
                  <a:srgbClr val="1D1D1F"/>
                </a:solidFill>
                <a:latin typeface="Calibri"/>
              </a:rPr>
              <a:t> abandoned cart e-mails</a:t>
            </a:r>
          </a:p>
          <a:p>
            <a:pPr>
              <a:spcAft>
                <a:spcPts val="500"/>
              </a:spcAft>
            </a:pPr>
            <a:r>
              <a:rPr sz="1200" b="1">
                <a:solidFill>
                  <a:srgbClr val="1D1D1F"/>
                </a:solidFill>
                <a:latin typeface="Calibri"/>
              </a:rPr>
              <a:t>Actie:</a:t>
            </a:r>
            <a:r>
              <a:rPr sz="1200" b="0">
                <a:solidFill>
                  <a:srgbClr val="1D1D1F"/>
                </a:solidFill>
                <a:latin typeface="Calibri"/>
              </a:rPr>
              <a:t> kortingscodes &amp; acties</a:t>
            </a:r>
          </a:p>
          <a:p>
            <a:pPr>
              <a:spcAft>
                <a:spcPts val="500"/>
              </a:spcAft>
            </a:pPr>
            <a:r>
              <a:rPr sz="1200" b="1">
                <a:solidFill>
                  <a:srgbClr val="1D1D1F"/>
                </a:solidFill>
                <a:latin typeface="Calibri"/>
              </a:rPr>
              <a:t>Na actie:</a:t>
            </a:r>
            <a:r>
              <a:rPr sz="1200" b="0">
                <a:solidFill>
                  <a:srgbClr val="1D1D1F"/>
                </a:solidFill>
                <a:latin typeface="Calibri"/>
              </a:rPr>
              <a:t> e-mail nurturing voor retentie</a:t>
            </a:r>
          </a:p>
          <a:p>
            <a:pPr>
              <a:spcAft>
                <a:spcPts val="500"/>
              </a:spcAft>
            </a:pPr>
            <a:r>
              <a:rPr sz="1200">
                <a:solidFill>
                  <a:srgbClr val="1D1D1F"/>
                </a:solidFill>
                <a:latin typeface="Calibri"/>
              </a:rPr>
              <a:t>  Retentie zit verweven in meerdere fases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572000" y="365760"/>
            <a:ext cx="301752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Sterkte-zwakte analyse</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Retentiemarketing: wat gaat goed, wat kan beter?</a:t>
            </a:r>
          </a:p>
        </p:txBody>
      </p:sp>
      <p:sp>
        <p:nvSpPr>
          <p:cNvPr id="6" name="Rounded Rectangle 5"/>
          <p:cNvSpPr/>
          <p:nvPr/>
        </p:nvSpPr>
        <p:spPr>
          <a:xfrm>
            <a:off x="640080" y="1828800"/>
            <a:ext cx="5212080" cy="43891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2011680"/>
            <a:ext cx="4572000" cy="457200"/>
          </a:xfrm>
          <a:prstGeom prst="rect">
            <a:avLst/>
          </a:prstGeom>
          <a:noFill/>
        </p:spPr>
        <p:txBody>
          <a:bodyPr wrap="square">
            <a:spAutoFit/>
          </a:bodyPr>
          <a:lstStyle/>
          <a:p>
            <a:pPr algn="l"/>
            <a:r>
              <a:rPr sz="2000" b="1">
                <a:solidFill>
                  <a:srgbClr val="34C759"/>
                </a:solidFill>
                <a:latin typeface="Calibri"/>
              </a:rPr>
              <a:t>✅  Sterke punten</a:t>
            </a:r>
          </a:p>
        </p:txBody>
      </p:sp>
      <p:sp>
        <p:nvSpPr>
          <p:cNvPr id="8" name="TextBox 7"/>
          <p:cNvSpPr txBox="1"/>
          <p:nvPr/>
        </p:nvSpPr>
        <p:spPr>
          <a:xfrm>
            <a:off x="914400" y="2560320"/>
            <a:ext cx="4663440" cy="3474720"/>
          </a:xfrm>
          <a:prstGeom prst="rect">
            <a:avLst/>
          </a:prstGeom>
          <a:noFill/>
        </p:spPr>
        <p:txBody>
          <a:bodyPr wrap="square">
            <a:spAutoFit/>
          </a:bodyPr>
          <a:lstStyle/>
          <a:p>
            <a:pPr>
              <a:spcAft>
                <a:spcPts val="600"/>
              </a:spcAft>
            </a:pPr>
            <a:r>
              <a:rPr sz="1200">
                <a:solidFill>
                  <a:srgbClr val="1D1D1F"/>
                </a:solidFill>
                <a:latin typeface="Calibri"/>
              </a:rPr>
              <a:t>  HEMA Pas: effectief loyaliteitsprogramma met spaarpunten, gratis voordelen en persoonlijke acties</a:t>
            </a:r>
          </a:p>
          <a:p>
            <a:pPr>
              <a:spcAft>
                <a:spcPts val="600"/>
              </a:spcAft>
            </a:pPr>
            <a:r>
              <a:rPr sz="1200">
                <a:solidFill>
                  <a:srgbClr val="1D1D1F"/>
                </a:solidFill>
                <a:latin typeface="Calibri"/>
              </a:rPr>
              <a:t>  Omnichannel retentie: online, app en 700+ winkels versterken elkaar (Click &amp; Collect, winkelafhaal)</a:t>
            </a:r>
          </a:p>
          <a:p>
            <a:pPr>
              <a:spcAft>
                <a:spcPts val="600"/>
              </a:spcAft>
            </a:pPr>
            <a:r>
              <a:rPr sz="1200">
                <a:solidFill>
                  <a:srgbClr val="1D1D1F"/>
                </a:solidFill>
                <a:latin typeface="Calibri"/>
              </a:rPr>
              <a:t>  Wederkerigheid (Cialdini): gratis tompouce, koffie/thee, welkomstkorting creeren goodwill</a:t>
            </a:r>
          </a:p>
          <a:p>
            <a:pPr>
              <a:spcAft>
                <a:spcPts val="600"/>
              </a:spcAft>
            </a:pPr>
            <a:r>
              <a:rPr sz="1200">
                <a:solidFill>
                  <a:srgbClr val="1D1D1F"/>
                </a:solidFill>
                <a:latin typeface="Calibri"/>
              </a:rPr>
              <a:t>  Seizoenscampagnes: consistent contact via Pasen, Sinterklaas, Back to School - houdt merk top-of-mind</a:t>
            </a:r>
          </a:p>
          <a:p>
            <a:pPr>
              <a:spcAft>
                <a:spcPts val="600"/>
              </a:spcAft>
            </a:pPr>
            <a:r>
              <a:rPr sz="1200">
                <a:solidFill>
                  <a:srgbClr val="1D1D1F"/>
                </a:solidFill>
                <a:latin typeface="Calibri"/>
              </a:rPr>
              <a:t>  Breed betaalopties + Klarna: verlaagt drempels voor herhaalaankopen</a:t>
            </a:r>
          </a:p>
          <a:p>
            <a:pPr>
              <a:spcAft>
                <a:spcPts val="600"/>
              </a:spcAft>
            </a:pPr>
            <a:r>
              <a:rPr sz="1200">
                <a:solidFill>
                  <a:srgbClr val="1D1D1F"/>
                </a:solidFill>
                <a:latin typeface="Calibri"/>
              </a:rPr>
              <a:t>  E-mailmarketing: abandoned cart mails, persoonlijke aanbiedingen, seizoenscontent</a:t>
            </a:r>
          </a:p>
          <a:p>
            <a:pPr>
              <a:spcAft>
                <a:spcPts val="600"/>
              </a:spcAft>
            </a:pPr>
            <a:r>
              <a:rPr sz="1200">
                <a:solidFill>
                  <a:srgbClr val="1D1D1F"/>
                </a:solidFill>
                <a:latin typeface="Calibri"/>
              </a:rPr>
              <a:t>  Sterk retourbeleid: 30 dagen via winkel en post - bouwt vertrouwen</a:t>
            </a:r>
          </a:p>
        </p:txBody>
      </p:sp>
      <p:sp>
        <p:nvSpPr>
          <p:cNvPr id="9" name="Rounded Rectangle 8"/>
          <p:cNvSpPr/>
          <p:nvPr/>
        </p:nvSpPr>
        <p:spPr>
          <a:xfrm>
            <a:off x="6309360" y="1828800"/>
            <a:ext cx="5212080" cy="43891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0" y="2011680"/>
            <a:ext cx="4572000" cy="457200"/>
          </a:xfrm>
          <a:prstGeom prst="rect">
            <a:avLst/>
          </a:prstGeom>
          <a:noFill/>
        </p:spPr>
        <p:txBody>
          <a:bodyPr wrap="square">
            <a:spAutoFit/>
          </a:bodyPr>
          <a:lstStyle/>
          <a:p>
            <a:pPr algn="l"/>
            <a:r>
              <a:rPr sz="2000" b="1">
                <a:solidFill>
                  <a:srgbClr val="FF9500"/>
                </a:solidFill>
                <a:latin typeface="Calibri"/>
              </a:rPr>
              <a:t>⚠️  Verbeterpunten</a:t>
            </a:r>
          </a:p>
        </p:txBody>
      </p:sp>
      <p:sp>
        <p:nvSpPr>
          <p:cNvPr id="11" name="TextBox 10"/>
          <p:cNvSpPr txBox="1"/>
          <p:nvPr/>
        </p:nvSpPr>
        <p:spPr>
          <a:xfrm>
            <a:off x="6583680" y="2560320"/>
            <a:ext cx="4663440" cy="3474720"/>
          </a:xfrm>
          <a:prstGeom prst="rect">
            <a:avLst/>
          </a:prstGeom>
          <a:noFill/>
        </p:spPr>
        <p:txBody>
          <a:bodyPr wrap="square">
            <a:spAutoFit/>
          </a:bodyPr>
          <a:lstStyle/>
          <a:p>
            <a:pPr>
              <a:spcAft>
                <a:spcPts val="600"/>
              </a:spcAft>
            </a:pPr>
            <a:r>
              <a:rPr sz="1200">
                <a:solidFill>
                  <a:srgbClr val="1D1D1F"/>
                </a:solidFill>
                <a:latin typeface="Calibri"/>
              </a:rPr>
              <a:t>  Geen exclusieve loyaliteitsniveaus: alle pashouders zijn gelijk - geen differentiatie voor topklanten</a:t>
            </a:r>
          </a:p>
          <a:p>
            <a:pPr>
              <a:spcAft>
                <a:spcPts val="600"/>
              </a:spcAft>
            </a:pPr>
            <a:r>
              <a:rPr sz="1200">
                <a:solidFill>
                  <a:srgbClr val="1D1D1F"/>
                </a:solidFill>
                <a:latin typeface="Calibri"/>
              </a:rPr>
              <a:t>  Community is zwak: geen actieve klantcommunity, beperkte UGC-strategie, weinig user-generated content</a:t>
            </a:r>
          </a:p>
          <a:p>
            <a:pPr>
              <a:spcAft>
                <a:spcPts val="600"/>
              </a:spcAft>
            </a:pPr>
            <a:r>
              <a:rPr sz="1200">
                <a:solidFill>
                  <a:srgbClr val="1D1D1F"/>
                </a:solidFill>
                <a:latin typeface="Calibri"/>
              </a:rPr>
              <a:t>  Reviews weinig zichtbaar: sterren niet op overzichtspagina's, sociale bewijskracht onderbenut</a:t>
            </a:r>
          </a:p>
          <a:p>
            <a:pPr>
              <a:spcAft>
                <a:spcPts val="600"/>
              </a:spcAft>
            </a:pPr>
            <a:r>
              <a:rPr sz="1200">
                <a:solidFill>
                  <a:srgbClr val="1D1D1F"/>
                </a:solidFill>
                <a:latin typeface="Calibri"/>
              </a:rPr>
              <a:t>  Personalisatie is basis: aanbevelingen zijn generiek, geen geavanceerde segmentatie of AI-driven content</a:t>
            </a:r>
          </a:p>
          <a:p>
            <a:pPr>
              <a:spcAft>
                <a:spcPts val="600"/>
              </a:spcAft>
            </a:pPr>
            <a:r>
              <a:rPr sz="1200">
                <a:solidFill>
                  <a:srgbClr val="1D1D1F"/>
                </a:solidFill>
                <a:latin typeface="Calibri"/>
              </a:rPr>
              <a:t>  Geen marketing automation: beperkte geautomatiseerde flows na aankoop (geen win-back, geen lifecycle)</a:t>
            </a:r>
          </a:p>
          <a:p>
            <a:pPr>
              <a:spcAft>
                <a:spcPts val="600"/>
              </a:spcAft>
            </a:pPr>
            <a:r>
              <a:rPr sz="1200">
                <a:solidFill>
                  <a:srgbClr val="1D1D1F"/>
                </a:solidFill>
                <a:latin typeface="Calibri"/>
              </a:rPr>
              <a:t>  Content voor bestaande klanten: geen blog, geen inspiratieartikelen, geen exclusieve content voor loyale klanten</a:t>
            </a:r>
          </a:p>
          <a:p>
            <a:pPr>
              <a:spcAft>
                <a:spcPts val="600"/>
              </a:spcAft>
            </a:pPr>
            <a:r>
              <a:rPr sz="1200">
                <a:solidFill>
                  <a:srgbClr val="1D1D1F"/>
                </a:solidFill>
                <a:latin typeface="Calibri"/>
              </a:rPr>
              <a:t>  Geen Apple Pay / Google Pay: mist modern betaalgemak dat herhaalaankopen versnelt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754880" y="365760"/>
            <a:ext cx="265176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Benchmark</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Retentie-benchmark: HEMA vs. Action vs. IKEA</a:t>
            </a:r>
          </a:p>
        </p:txBody>
      </p:sp>
      <p:graphicFrame>
        <p:nvGraphicFramePr>
          <p:cNvPr id="6" name="Table 5"/>
          <p:cNvGraphicFramePr>
            <a:graphicFrameLocks noGrp="1"/>
          </p:cNvGraphicFramePr>
          <p:nvPr/>
        </p:nvGraphicFramePr>
        <p:xfrm>
          <a:off x="640080" y="1828800"/>
          <a:ext cx="10881360" cy="4206240"/>
        </p:xfrm>
        <a:graphic>
          <a:graphicData uri="http://schemas.openxmlformats.org/drawingml/2006/table">
            <a:tbl>
              <a:tblPr firstRow="1" bandRow="1">
                <a:tableStyleId>{5C22544A-7EE6-4342-B048-85BDC9FD1C3A}</a:tableStyleId>
              </a:tblPr>
              <a:tblGrid>
                <a:gridCol w="2286000"/>
                <a:gridCol w="2926080"/>
                <a:gridCol w="2743200"/>
                <a:gridCol w="2926080"/>
              </a:tblGrid>
              <a:tr h="600891">
                <a:tc>
                  <a:txBody>
                    <a:bodyPr/>
                    <a:lstStyle/>
                    <a:p>
                      <a:pPr algn="l"/>
                      <a:r>
                        <a:rPr sz="1200" b="1">
                          <a:solidFill>
                            <a:srgbClr val="FFFFFF"/>
                          </a:solidFill>
                          <a:latin typeface="Calibri"/>
                        </a:rPr>
                        <a:t>Retentie-aspect</a:t>
                      </a:r>
                    </a:p>
                  </a:txBody>
                  <a:tcPr anchor="ctr">
                    <a:solidFill>
                      <a:srgbClr val="505050"/>
                    </a:solidFill>
                  </a:tcPr>
                </a:tc>
                <a:tc>
                  <a:txBody>
                    <a:bodyPr/>
                    <a:lstStyle/>
                    <a:p>
                      <a:pPr algn="ctr"/>
                      <a:r>
                        <a:rPr sz="1200" b="1">
                          <a:solidFill>
                            <a:srgbClr val="FFFFFF"/>
                          </a:solidFill>
                          <a:latin typeface="Calibri"/>
                        </a:rPr>
                        <a:t>HEMA</a:t>
                      </a:r>
                    </a:p>
                  </a:txBody>
                  <a:tcPr anchor="ctr">
                    <a:solidFill>
                      <a:srgbClr val="E4002B"/>
                    </a:solidFill>
                  </a:tcPr>
                </a:tc>
                <a:tc>
                  <a:txBody>
                    <a:bodyPr/>
                    <a:lstStyle/>
                    <a:p>
                      <a:pPr algn="ctr"/>
                      <a:r>
                        <a:rPr sz="1200" b="1">
                          <a:solidFill>
                            <a:srgbClr val="FFFFFF"/>
                          </a:solidFill>
                          <a:latin typeface="Calibri"/>
                        </a:rPr>
                        <a:t>Action</a:t>
                      </a:r>
                    </a:p>
                  </a:txBody>
                  <a:tcPr anchor="ctr">
                    <a:solidFill>
                      <a:srgbClr val="646464"/>
                    </a:solidFill>
                  </a:tcPr>
                </a:tc>
                <a:tc>
                  <a:txBody>
                    <a:bodyPr/>
                    <a:lstStyle/>
                    <a:p>
                      <a:pPr algn="ctr"/>
                      <a:r>
                        <a:rPr sz="1200" b="1">
                          <a:solidFill>
                            <a:srgbClr val="FFFFFF"/>
                          </a:solidFill>
                          <a:latin typeface="Calibri"/>
                        </a:rPr>
                        <a:t>IKEA</a:t>
                      </a:r>
                    </a:p>
                  </a:txBody>
                  <a:tcPr anchor="ctr">
                    <a:solidFill>
                      <a:srgbClr val="0051BA"/>
                    </a:solidFill>
                  </a:tcPr>
                </a:tc>
              </a:tr>
              <a:tr h="600891">
                <a:tc>
                  <a:txBody>
                    <a:bodyPr/>
                    <a:lstStyle/>
                    <a:p>
                      <a:pPr algn="l"/>
                      <a:r>
                        <a:rPr sz="1100">
                          <a:solidFill>
                            <a:srgbClr val="1D1D1F"/>
                          </a:solidFill>
                          <a:latin typeface="Calibri"/>
                        </a:rPr>
                        <a:t>Loyaliteitsprogramma</a:t>
                      </a:r>
                    </a:p>
                  </a:txBody>
                  <a:tcPr anchor="ctr">
                    <a:noFill/>
                  </a:tcPr>
                </a:tc>
                <a:tc>
                  <a:txBody>
                    <a:bodyPr/>
                    <a:lstStyle/>
                    <a:p>
                      <a:pPr algn="ctr"/>
                      <a:r>
                        <a:rPr sz="1100">
                          <a:solidFill>
                            <a:srgbClr val="1D1D1F"/>
                          </a:solidFill>
                          <a:latin typeface="Calibri"/>
                        </a:rPr>
                        <a:t>HEMA Pas: spaarpunten,</a:t>
                      </a:r>
                    </a:p>
                    <a:p>
                      <a:pPr algn="ctr"/>
                      <a:r>
                        <a:rPr sz="1100">
                          <a:solidFill>
                            <a:srgbClr val="1D1D1F"/>
                          </a:solidFill>
                          <a:latin typeface="Calibri"/>
                        </a:rPr>
                        <a:t>persoonlijke aanbiedingen</a:t>
                      </a:r>
                    </a:p>
                  </a:txBody>
                  <a:tcPr anchor="ctr">
                    <a:noFill/>
                  </a:tcPr>
                </a:tc>
                <a:tc>
                  <a:txBody>
                    <a:bodyPr/>
                    <a:lstStyle/>
                    <a:p>
                      <a:pPr algn="ctr"/>
                      <a:r>
                        <a:rPr sz="1100">
                          <a:solidFill>
                            <a:srgbClr val="1D1D1F"/>
                          </a:solidFill>
                          <a:latin typeface="Calibri"/>
                        </a:rPr>
                        <a:t>Geen loyaliteits-</a:t>
                      </a:r>
                    </a:p>
                    <a:p>
                      <a:pPr algn="ctr"/>
                      <a:r>
                        <a:rPr sz="1100">
                          <a:solidFill>
                            <a:srgbClr val="1D1D1F"/>
                          </a:solidFill>
                          <a:latin typeface="Calibri"/>
                        </a:rPr>
                        <a:t>programma</a:t>
                      </a:r>
                    </a:p>
                  </a:txBody>
                  <a:tcPr anchor="ctr">
                    <a:noFill/>
                  </a:tcPr>
                </a:tc>
                <a:tc>
                  <a:txBody>
                    <a:bodyPr/>
                    <a:lstStyle/>
                    <a:p>
                      <a:pPr algn="ctr"/>
                      <a:r>
                        <a:rPr sz="1100">
                          <a:solidFill>
                            <a:srgbClr val="1D1D1F"/>
                          </a:solidFill>
                          <a:latin typeface="Calibri"/>
                        </a:rPr>
                        <a:t>IKEA Family: gratis,</a:t>
                      </a:r>
                    </a:p>
                    <a:p>
                      <a:pPr algn="ctr"/>
                      <a:r>
                        <a:rPr sz="1100">
                          <a:solidFill>
                            <a:srgbClr val="1D1D1F"/>
                          </a:solidFill>
                          <a:latin typeface="Calibri"/>
                        </a:rPr>
                        <a:t>workshops, kortingen, verzekering</a:t>
                      </a:r>
                    </a:p>
                  </a:txBody>
                  <a:tcPr anchor="ctr">
                    <a:noFill/>
                  </a:tcPr>
                </a:tc>
              </a:tr>
              <a:tr h="600891">
                <a:tc>
                  <a:txBody>
                    <a:bodyPr/>
                    <a:lstStyle/>
                    <a:p>
                      <a:pPr algn="l"/>
                      <a:r>
                        <a:rPr sz="1100">
                          <a:solidFill>
                            <a:srgbClr val="1D1D1F"/>
                          </a:solidFill>
                          <a:latin typeface="Calibri"/>
                        </a:rPr>
                        <a:t>E-mailretentie</a:t>
                      </a:r>
                    </a:p>
                  </a:txBody>
                  <a:tcPr anchor="ctr">
                    <a:solidFill>
                      <a:srgbClr val="FAFAFC"/>
                    </a:solidFill>
                  </a:tcPr>
                </a:tc>
                <a:tc>
                  <a:txBody>
                    <a:bodyPr/>
                    <a:lstStyle/>
                    <a:p>
                      <a:pPr algn="ctr"/>
                      <a:r>
                        <a:rPr sz="1100">
                          <a:solidFill>
                            <a:srgbClr val="1D1D1F"/>
                          </a:solidFill>
                          <a:latin typeface="Calibri"/>
                        </a:rPr>
                        <a:t>Nieuwsbrief, abandoned cart,</a:t>
                      </a:r>
                    </a:p>
                    <a:p>
                      <a:pPr algn="ctr"/>
                      <a:r>
                        <a:rPr sz="1100">
                          <a:solidFill>
                            <a:srgbClr val="1D1D1F"/>
                          </a:solidFill>
                          <a:latin typeface="Calibri"/>
                        </a:rPr>
                        <a:t>persoonlijke acties</a:t>
                      </a:r>
                    </a:p>
                  </a:txBody>
                  <a:tcPr anchor="ctr">
                    <a:solidFill>
                      <a:srgbClr val="FAFAFC"/>
                    </a:solidFill>
                  </a:tcPr>
                </a:tc>
                <a:tc>
                  <a:txBody>
                    <a:bodyPr/>
                    <a:lstStyle/>
                    <a:p>
                      <a:pPr algn="ctr"/>
                      <a:r>
                        <a:rPr sz="1100">
                          <a:solidFill>
                            <a:srgbClr val="1D1D1F"/>
                          </a:solidFill>
                          <a:latin typeface="Calibri"/>
                        </a:rPr>
                        <a:t>Minimale e-mail-</a:t>
                      </a:r>
                    </a:p>
                    <a:p>
                      <a:pPr algn="ctr"/>
                      <a:r>
                        <a:rPr sz="1100">
                          <a:solidFill>
                            <a:srgbClr val="1D1D1F"/>
                          </a:solidFill>
                          <a:latin typeface="Calibri"/>
                        </a:rPr>
                        <a:t>inspanning</a:t>
                      </a:r>
                    </a:p>
                  </a:txBody>
                  <a:tcPr anchor="ctr">
                    <a:solidFill>
                      <a:srgbClr val="FAFAFC"/>
                    </a:solidFill>
                  </a:tcPr>
                </a:tc>
                <a:tc>
                  <a:txBody>
                    <a:bodyPr/>
                    <a:lstStyle/>
                    <a:p>
                      <a:pPr algn="ctr"/>
                      <a:r>
                        <a:rPr sz="1100">
                          <a:solidFill>
                            <a:srgbClr val="1D1D1F"/>
                          </a:solidFill>
                          <a:latin typeface="Calibri"/>
                        </a:rPr>
                        <a:t>Sterk: gepersonaliseerd,</a:t>
                      </a:r>
                    </a:p>
                    <a:p>
                      <a:pPr algn="ctr"/>
                      <a:r>
                        <a:rPr sz="1100">
                          <a:solidFill>
                            <a:srgbClr val="1D1D1F"/>
                          </a:solidFill>
                          <a:latin typeface="Calibri"/>
                        </a:rPr>
                        <a:t>lifecycle e-mails</a:t>
                      </a:r>
                    </a:p>
                  </a:txBody>
                  <a:tcPr anchor="ctr">
                    <a:solidFill>
                      <a:srgbClr val="FAFAFC"/>
                    </a:solidFill>
                  </a:tcPr>
                </a:tc>
              </a:tr>
              <a:tr h="600891">
                <a:tc>
                  <a:txBody>
                    <a:bodyPr/>
                    <a:lstStyle/>
                    <a:p>
                      <a:pPr algn="l"/>
                      <a:r>
                        <a:rPr sz="1100">
                          <a:solidFill>
                            <a:srgbClr val="1D1D1F"/>
                          </a:solidFill>
                          <a:latin typeface="Calibri"/>
                        </a:rPr>
                        <a:t>Personalisatie</a:t>
                      </a:r>
                    </a:p>
                  </a:txBody>
                  <a:tcPr anchor="ctr">
                    <a:noFill/>
                  </a:tcPr>
                </a:tc>
                <a:tc>
                  <a:txBody>
                    <a:bodyPr/>
                    <a:lstStyle/>
                    <a:p>
                      <a:pPr algn="ctr"/>
                      <a:r>
                        <a:rPr sz="1100">
                          <a:solidFill>
                            <a:srgbClr val="1D1D1F"/>
                          </a:solidFill>
                          <a:latin typeface="Calibri"/>
                        </a:rPr>
                        <a:t>Basis: recent bekeken,</a:t>
                      </a:r>
                    </a:p>
                    <a:p>
                      <a:pPr algn="ctr"/>
                      <a:r>
                        <a:rPr sz="1100">
                          <a:solidFill>
                            <a:srgbClr val="1D1D1F"/>
                          </a:solidFill>
                          <a:latin typeface="Calibri"/>
                        </a:rPr>
                        <a:t>aanbevelingen</a:t>
                      </a:r>
                    </a:p>
                  </a:txBody>
                  <a:tcPr anchor="ctr">
                    <a:noFill/>
                  </a:tcPr>
                </a:tc>
                <a:tc>
                  <a:txBody>
                    <a:bodyPr/>
                    <a:lstStyle/>
                    <a:p>
                      <a:pPr algn="ctr"/>
                      <a:r>
                        <a:rPr sz="1100">
                          <a:solidFill>
                            <a:srgbClr val="1D1D1F"/>
                          </a:solidFill>
                          <a:latin typeface="Calibri"/>
                        </a:rPr>
                        <a:t>Nauwelijks</a:t>
                      </a:r>
                    </a:p>
                    <a:p>
                      <a:pPr algn="ctr"/>
                      <a:r>
                        <a:rPr sz="1100">
                          <a:solidFill>
                            <a:srgbClr val="1D1D1F"/>
                          </a:solidFill>
                          <a:latin typeface="Calibri"/>
                        </a:rPr>
                        <a:t>aanwezig</a:t>
                      </a:r>
                    </a:p>
                  </a:txBody>
                  <a:tcPr anchor="ctr">
                    <a:noFill/>
                  </a:tcPr>
                </a:tc>
                <a:tc>
                  <a:txBody>
                    <a:bodyPr/>
                    <a:lstStyle/>
                    <a:p>
                      <a:pPr algn="ctr"/>
                      <a:r>
                        <a:rPr sz="1100">
                          <a:solidFill>
                            <a:srgbClr val="1D1D1F"/>
                          </a:solidFill>
                          <a:latin typeface="Calibri"/>
                        </a:rPr>
                        <a:t>Geavanceerd: AI-driven,</a:t>
                      </a:r>
                    </a:p>
                    <a:p>
                      <a:pPr algn="ctr"/>
                      <a:r>
                        <a:rPr sz="1100">
                          <a:solidFill>
                            <a:srgbClr val="1D1D1F"/>
                          </a:solidFill>
                          <a:latin typeface="Calibri"/>
                        </a:rPr>
                        <a:t>roomplanners, inspiratie</a:t>
                      </a:r>
                    </a:p>
                  </a:txBody>
                  <a:tcPr anchor="ctr">
                    <a:noFill/>
                  </a:tcPr>
                </a:tc>
              </a:tr>
              <a:tr h="600891">
                <a:tc>
                  <a:txBody>
                    <a:bodyPr/>
                    <a:lstStyle/>
                    <a:p>
                      <a:pPr algn="l"/>
                      <a:r>
                        <a:rPr sz="1100">
                          <a:solidFill>
                            <a:srgbClr val="1D1D1F"/>
                          </a:solidFill>
                          <a:latin typeface="Calibri"/>
                        </a:rPr>
                        <a:t>Community &amp; UGC</a:t>
                      </a:r>
                    </a:p>
                  </a:txBody>
                  <a:tcPr anchor="ctr">
                    <a:solidFill>
                      <a:srgbClr val="FAFAFC"/>
                    </a:solidFill>
                  </a:tcPr>
                </a:tc>
                <a:tc>
                  <a:txBody>
                    <a:bodyPr/>
                    <a:lstStyle/>
                    <a:p>
                      <a:pPr algn="ctr"/>
                      <a:r>
                        <a:rPr sz="1100">
                          <a:solidFill>
                            <a:srgbClr val="1D1D1F"/>
                          </a:solidFill>
                          <a:latin typeface="Calibri"/>
                        </a:rPr>
                        <a:t>8 platforms, maar</a:t>
                      </a:r>
                    </a:p>
                    <a:p>
                      <a:pPr algn="ctr"/>
                      <a:r>
                        <a:rPr sz="1100">
                          <a:solidFill>
                            <a:srgbClr val="1D1D1F"/>
                          </a:solidFill>
                          <a:latin typeface="Calibri"/>
                        </a:rPr>
                        <a:t>weinig UGC</a:t>
                      </a:r>
                    </a:p>
                  </a:txBody>
                  <a:tcPr anchor="ctr">
                    <a:solidFill>
                      <a:srgbClr val="FAFAFC"/>
                    </a:solidFill>
                  </a:tcPr>
                </a:tc>
                <a:tc>
                  <a:txBody>
                    <a:bodyPr/>
                    <a:lstStyle/>
                    <a:p>
                      <a:pPr algn="ctr"/>
                      <a:r>
                        <a:rPr sz="1100">
                          <a:solidFill>
                            <a:srgbClr val="1D1D1F"/>
                          </a:solidFill>
                          <a:latin typeface="Calibri"/>
                        </a:rPr>
                        <a:t>Geen community-</a:t>
                      </a:r>
                    </a:p>
                    <a:p>
                      <a:pPr algn="ctr"/>
                      <a:r>
                        <a:rPr sz="1100">
                          <a:solidFill>
                            <a:srgbClr val="1D1D1F"/>
                          </a:solidFill>
                          <a:latin typeface="Calibri"/>
                        </a:rPr>
                        <a:t>strategie</a:t>
                      </a:r>
                    </a:p>
                  </a:txBody>
                  <a:tcPr anchor="ctr">
                    <a:solidFill>
                      <a:srgbClr val="FAFAFC"/>
                    </a:solidFill>
                  </a:tcPr>
                </a:tc>
                <a:tc>
                  <a:txBody>
                    <a:bodyPr/>
                    <a:lstStyle/>
                    <a:p>
                      <a:pPr algn="ctr"/>
                      <a:r>
                        <a:rPr sz="1100">
                          <a:solidFill>
                            <a:srgbClr val="1D1D1F"/>
                          </a:solidFill>
                          <a:latin typeface="Calibri"/>
                        </a:rPr>
                        <a:t>Sterk: IKEA Family events,</a:t>
                      </a:r>
                    </a:p>
                    <a:p>
                      <a:pPr algn="ctr"/>
                      <a:r>
                        <a:rPr sz="1100">
                          <a:solidFill>
                            <a:srgbClr val="1D1D1F"/>
                          </a:solidFill>
                          <a:latin typeface="Calibri"/>
                        </a:rPr>
                        <a:t>UGC, workshops</a:t>
                      </a:r>
                    </a:p>
                  </a:txBody>
                  <a:tcPr anchor="ctr">
                    <a:solidFill>
                      <a:srgbClr val="FAFAFC"/>
                    </a:solidFill>
                  </a:tcPr>
                </a:tc>
              </a:tr>
              <a:tr h="600891">
                <a:tc>
                  <a:txBody>
                    <a:bodyPr/>
                    <a:lstStyle/>
                    <a:p>
                      <a:pPr algn="l"/>
                      <a:r>
                        <a:rPr sz="1100">
                          <a:solidFill>
                            <a:srgbClr val="1D1D1F"/>
                          </a:solidFill>
                          <a:latin typeface="Calibri"/>
                        </a:rPr>
                        <a:t>Content bestaande klant</a:t>
                      </a:r>
                    </a:p>
                  </a:txBody>
                  <a:tcPr anchor="ctr">
                    <a:noFill/>
                  </a:tcPr>
                </a:tc>
                <a:tc>
                  <a:txBody>
                    <a:bodyPr/>
                    <a:lstStyle/>
                    <a:p>
                      <a:pPr algn="ctr"/>
                      <a:r>
                        <a:rPr sz="1100">
                          <a:solidFill>
                            <a:srgbClr val="1D1D1F"/>
                          </a:solidFill>
                          <a:latin typeface="Calibri"/>
                        </a:rPr>
                        <a:t>Seizoenscampagnes,</a:t>
                      </a:r>
                    </a:p>
                    <a:p>
                      <a:pPr algn="ctr"/>
                      <a:r>
                        <a:rPr sz="1100">
                          <a:solidFill>
                            <a:srgbClr val="1D1D1F"/>
                          </a:solidFill>
                          <a:latin typeface="Calibri"/>
                        </a:rPr>
                        <a:t>geen blog</a:t>
                      </a:r>
                    </a:p>
                  </a:txBody>
                  <a:tcPr anchor="ctr">
                    <a:noFill/>
                  </a:tcPr>
                </a:tc>
                <a:tc>
                  <a:txBody>
                    <a:bodyPr/>
                    <a:lstStyle/>
                    <a:p>
                      <a:pPr algn="ctr"/>
                      <a:r>
                        <a:rPr sz="1100">
                          <a:solidFill>
                            <a:srgbClr val="1D1D1F"/>
                          </a:solidFill>
                          <a:latin typeface="Calibri"/>
                        </a:rPr>
                        <a:t>Geen content-</a:t>
                      </a:r>
                    </a:p>
                    <a:p>
                      <a:pPr algn="ctr"/>
                      <a:r>
                        <a:rPr sz="1100">
                          <a:solidFill>
                            <a:srgbClr val="1D1D1F"/>
                          </a:solidFill>
                          <a:latin typeface="Calibri"/>
                        </a:rPr>
                        <a:t>strategie</a:t>
                      </a:r>
                    </a:p>
                  </a:txBody>
                  <a:tcPr anchor="ctr">
                    <a:noFill/>
                  </a:tcPr>
                </a:tc>
                <a:tc>
                  <a:txBody>
                    <a:bodyPr/>
                    <a:lstStyle/>
                    <a:p>
                      <a:pPr algn="ctr"/>
                      <a:r>
                        <a:rPr sz="1100">
                          <a:solidFill>
                            <a:srgbClr val="1D1D1F"/>
                          </a:solidFill>
                          <a:latin typeface="Calibri"/>
                        </a:rPr>
                        <a:t>Inspiratiecontent, blog,</a:t>
                      </a:r>
                    </a:p>
                    <a:p>
                      <a:pPr algn="ctr"/>
                      <a:r>
                        <a:rPr sz="1100">
                          <a:solidFill>
                            <a:srgbClr val="1D1D1F"/>
                          </a:solidFill>
                          <a:latin typeface="Calibri"/>
                        </a:rPr>
                        <a:t>3D-planners, video</a:t>
                      </a:r>
                    </a:p>
                  </a:txBody>
                  <a:tcPr anchor="ctr">
                    <a:noFill/>
                  </a:tcPr>
                </a:tc>
              </a:tr>
              <a:tr h="600894">
                <a:tc>
                  <a:txBody>
                    <a:bodyPr/>
                    <a:lstStyle/>
                    <a:p>
                      <a:pPr algn="l"/>
                      <a:r>
                        <a:rPr sz="1300" b="1">
                          <a:latin typeface="Calibri"/>
                        </a:rPr>
                        <a:t>Totaaloordeel retentie</a:t>
                      </a:r>
                    </a:p>
                  </a:txBody>
                  <a:tcPr anchor="ctr">
                    <a:solidFill>
                      <a:srgbClr val="F5F5F7"/>
                    </a:solidFill>
                  </a:tcPr>
                </a:tc>
                <a:tc>
                  <a:txBody>
                    <a:bodyPr/>
                    <a:lstStyle/>
                    <a:p>
                      <a:pPr algn="ctr"/>
                      <a:r>
                        <a:rPr sz="1300" b="1">
                          <a:solidFill>
                            <a:srgbClr val="E4002B"/>
                          </a:solidFill>
                          <a:latin typeface="Calibri"/>
                        </a:rPr>
                        <a:t>7/10 - Voldoende+</a:t>
                      </a:r>
                    </a:p>
                  </a:txBody>
                  <a:tcPr anchor="ctr">
                    <a:solidFill>
                      <a:srgbClr val="F5F5F7"/>
                    </a:solidFill>
                  </a:tcPr>
                </a:tc>
                <a:tc>
                  <a:txBody>
                    <a:bodyPr/>
                    <a:lstStyle/>
                    <a:p>
                      <a:pPr algn="ctr"/>
                      <a:r>
                        <a:rPr sz="1300" b="1">
                          <a:solidFill>
                            <a:srgbClr val="E4002B"/>
                          </a:solidFill>
                          <a:latin typeface="Calibri"/>
                        </a:rPr>
                        <a:t>3/10 - Zwak</a:t>
                      </a:r>
                    </a:p>
                  </a:txBody>
                  <a:tcPr anchor="ctr">
                    <a:solidFill>
                      <a:srgbClr val="F5F5F7"/>
                    </a:solidFill>
                  </a:tcPr>
                </a:tc>
                <a:tc>
                  <a:txBody>
                    <a:bodyPr/>
                    <a:lstStyle/>
                    <a:p>
                      <a:pPr algn="ctr"/>
                      <a:r>
                        <a:rPr sz="1300" b="1">
                          <a:solidFill>
                            <a:srgbClr val="34C759"/>
                          </a:solidFill>
                          <a:latin typeface="Calibri"/>
                        </a:rPr>
                        <a:t>9/10 - Uitstekend</a:t>
                      </a:r>
                    </a:p>
                  </a:txBody>
                  <a:tcPr anchor="ctr">
                    <a:solidFill>
                      <a:srgbClr val="F5F5F7"/>
                    </a:solidFill>
                  </a:tcPr>
                </a:tc>
              </a:tr>
            </a:tbl>
          </a:graphicData>
        </a:graphic>
      </p:graphicFrame>
      <p:sp>
        <p:nvSpPr>
          <p:cNvPr id="7" name="Rounded Rectangle 6"/>
          <p:cNvSpPr/>
          <p:nvPr/>
        </p:nvSpPr>
        <p:spPr>
          <a:xfrm>
            <a:off x="640080" y="6172200"/>
            <a:ext cx="10881360" cy="4572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6199632"/>
            <a:ext cx="10332720" cy="411480"/>
          </a:xfrm>
          <a:prstGeom prst="rect">
            <a:avLst/>
          </a:prstGeom>
          <a:noFill/>
        </p:spPr>
        <p:txBody>
          <a:bodyPr wrap="square">
            <a:spAutoFit/>
          </a:bodyPr>
          <a:lstStyle/>
          <a:p>
            <a:pPr algn="ctr"/>
            <a:r>
              <a:rPr sz="1200" b="0">
                <a:solidFill>
                  <a:srgbClr val="E4002B"/>
                </a:solidFill>
                <a:latin typeface="Calibri"/>
              </a:rPr>
              <a:t>HEMA scoort voldoende op retentie, maar kan leren van IKEA's geavanceerde personalisatie, community en contentaanpak</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754880" y="365760"/>
            <a:ext cx="265176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Beoordeling</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Totaaloordeel: retentiemarketing HEMA</a:t>
            </a:r>
          </a:p>
        </p:txBody>
      </p:sp>
      <p:sp>
        <p:nvSpPr>
          <p:cNvPr id="6" name="Rounded Rectangle 5"/>
          <p:cNvSpPr/>
          <p:nvPr/>
        </p:nvSpPr>
        <p:spPr>
          <a:xfrm>
            <a:off x="5029200" y="1828800"/>
            <a:ext cx="2103120" cy="210312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0" y="2011680"/>
            <a:ext cx="2103120" cy="1371600"/>
          </a:xfrm>
          <a:prstGeom prst="rect">
            <a:avLst/>
          </a:prstGeom>
          <a:noFill/>
        </p:spPr>
        <p:txBody>
          <a:bodyPr wrap="square">
            <a:spAutoFit/>
          </a:bodyPr>
          <a:lstStyle/>
          <a:p>
            <a:pPr algn="ctr"/>
            <a:r>
              <a:rPr sz="6000" b="1">
                <a:solidFill>
                  <a:srgbClr val="FFFFFF"/>
                </a:solidFill>
                <a:latin typeface="Calibri"/>
              </a:rPr>
              <a:t>7</a:t>
            </a:r>
          </a:p>
          <a:p>
            <a:pPr algn="ctr"/>
            <a:r>
              <a:rPr sz="1800">
                <a:solidFill>
                  <a:srgbClr val="FFFFFF"/>
                </a:solidFill>
                <a:latin typeface="Calibri"/>
              </a:rPr>
              <a:t>uit 10</a:t>
            </a:r>
          </a:p>
        </p:txBody>
      </p:sp>
      <p:sp>
        <p:nvSpPr>
          <p:cNvPr id="8" name="TextBox 7"/>
          <p:cNvSpPr txBox="1"/>
          <p:nvPr/>
        </p:nvSpPr>
        <p:spPr>
          <a:xfrm>
            <a:off x="3200400" y="4114800"/>
            <a:ext cx="5760720" cy="457200"/>
          </a:xfrm>
          <a:prstGeom prst="rect">
            <a:avLst/>
          </a:prstGeom>
          <a:noFill/>
        </p:spPr>
        <p:txBody>
          <a:bodyPr wrap="square">
            <a:spAutoFit/>
          </a:bodyPr>
          <a:lstStyle/>
          <a:p>
            <a:pPr algn="ctr"/>
            <a:r>
              <a:rPr sz="2000" b="1">
                <a:solidFill>
                  <a:srgbClr val="E4002B"/>
                </a:solidFill>
                <a:latin typeface="Calibri"/>
              </a:rPr>
              <a:t>Voldoende+ — Sterke basis, ruimte voor groei</a:t>
            </a:r>
          </a:p>
        </p:txBody>
      </p:sp>
      <p:sp>
        <p:nvSpPr>
          <p:cNvPr id="9" name="Rounded Rectangle 8"/>
          <p:cNvSpPr/>
          <p:nvPr/>
        </p:nvSpPr>
        <p:spPr>
          <a:xfrm>
            <a:off x="640080" y="4754880"/>
            <a:ext cx="3520440" cy="1828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4846320"/>
            <a:ext cx="3017520" cy="320040"/>
          </a:xfrm>
          <a:prstGeom prst="rect">
            <a:avLst/>
          </a:prstGeom>
          <a:noFill/>
        </p:spPr>
        <p:txBody>
          <a:bodyPr wrap="square">
            <a:spAutoFit/>
          </a:bodyPr>
          <a:lstStyle/>
          <a:p>
            <a:pPr algn="l"/>
            <a:r>
              <a:rPr sz="1500" b="1">
                <a:solidFill>
                  <a:srgbClr val="1D1D1F"/>
                </a:solidFill>
                <a:latin typeface="Calibri"/>
              </a:rPr>
              <a:t>Wat werkt</a:t>
            </a:r>
          </a:p>
        </p:txBody>
      </p:sp>
      <p:sp>
        <p:nvSpPr>
          <p:cNvPr id="11" name="TextBox 10"/>
          <p:cNvSpPr txBox="1"/>
          <p:nvPr/>
        </p:nvSpPr>
        <p:spPr>
          <a:xfrm>
            <a:off x="868680" y="5212080"/>
            <a:ext cx="3017520" cy="1280160"/>
          </a:xfrm>
          <a:prstGeom prst="rect">
            <a:avLst/>
          </a:prstGeom>
          <a:noFill/>
        </p:spPr>
        <p:txBody>
          <a:bodyPr wrap="square">
            <a:spAutoFit/>
          </a:bodyPr>
          <a:lstStyle/>
          <a:p>
            <a:pPr>
              <a:spcAft>
                <a:spcPts val="400"/>
              </a:spcAft>
            </a:pPr>
            <a:r>
              <a:rPr sz="1200">
                <a:solidFill>
                  <a:srgbClr val="1D1D1F"/>
                </a:solidFill>
                <a:latin typeface="Calibri"/>
              </a:rPr>
              <a:t>  HEMA Pas is effectief retentie-instrument</a:t>
            </a:r>
          </a:p>
          <a:p>
            <a:pPr>
              <a:spcAft>
                <a:spcPts val="400"/>
              </a:spcAft>
            </a:pPr>
            <a:r>
              <a:rPr sz="1200">
                <a:solidFill>
                  <a:srgbClr val="1D1D1F"/>
                </a:solidFill>
                <a:latin typeface="Calibri"/>
              </a:rPr>
              <a:t>  Omnichannel versterkt klantbinding</a:t>
            </a:r>
          </a:p>
          <a:p>
            <a:pPr>
              <a:spcAft>
                <a:spcPts val="400"/>
              </a:spcAft>
            </a:pPr>
            <a:r>
              <a:rPr sz="1200">
                <a:solidFill>
                  <a:srgbClr val="1D1D1F"/>
                </a:solidFill>
                <a:latin typeface="Calibri"/>
              </a:rPr>
              <a:t>  Seizoenscampagnes houden merk relevant</a:t>
            </a:r>
          </a:p>
          <a:p>
            <a:pPr>
              <a:spcAft>
                <a:spcPts val="400"/>
              </a:spcAft>
            </a:pPr>
            <a:r>
              <a:rPr sz="1200">
                <a:solidFill>
                  <a:srgbClr val="1D1D1F"/>
                </a:solidFill>
                <a:latin typeface="Calibri"/>
              </a:rPr>
              <a:t>  Wederkerigheid via gratis voordelen</a:t>
            </a:r>
          </a:p>
        </p:txBody>
      </p:sp>
      <p:sp>
        <p:nvSpPr>
          <p:cNvPr id="12" name="Rounded Rectangle 11"/>
          <p:cNvSpPr/>
          <p:nvPr/>
        </p:nvSpPr>
        <p:spPr>
          <a:xfrm>
            <a:off x="4434840" y="4754880"/>
            <a:ext cx="3520440" cy="1828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63440" y="4846320"/>
            <a:ext cx="3017520" cy="320040"/>
          </a:xfrm>
          <a:prstGeom prst="rect">
            <a:avLst/>
          </a:prstGeom>
          <a:noFill/>
        </p:spPr>
        <p:txBody>
          <a:bodyPr wrap="square">
            <a:spAutoFit/>
          </a:bodyPr>
          <a:lstStyle/>
          <a:p>
            <a:pPr algn="l"/>
            <a:r>
              <a:rPr sz="1500" b="1">
                <a:solidFill>
                  <a:srgbClr val="1D1D1F"/>
                </a:solidFill>
                <a:latin typeface="Calibri"/>
              </a:rPr>
              <a:t>Wat mist</a:t>
            </a:r>
          </a:p>
        </p:txBody>
      </p:sp>
      <p:sp>
        <p:nvSpPr>
          <p:cNvPr id="14" name="TextBox 13"/>
          <p:cNvSpPr txBox="1"/>
          <p:nvPr/>
        </p:nvSpPr>
        <p:spPr>
          <a:xfrm>
            <a:off x="4663440" y="5212080"/>
            <a:ext cx="3017520" cy="1280160"/>
          </a:xfrm>
          <a:prstGeom prst="rect">
            <a:avLst/>
          </a:prstGeom>
          <a:noFill/>
        </p:spPr>
        <p:txBody>
          <a:bodyPr wrap="square">
            <a:spAutoFit/>
          </a:bodyPr>
          <a:lstStyle/>
          <a:p>
            <a:pPr>
              <a:spcAft>
                <a:spcPts val="400"/>
              </a:spcAft>
            </a:pPr>
            <a:r>
              <a:rPr sz="1200">
                <a:solidFill>
                  <a:srgbClr val="1D1D1F"/>
                </a:solidFill>
                <a:latin typeface="Calibri"/>
              </a:rPr>
              <a:t>  Geen loyaliteitsniveaus (goud/zilver)</a:t>
            </a:r>
          </a:p>
          <a:p>
            <a:pPr>
              <a:spcAft>
                <a:spcPts val="400"/>
              </a:spcAft>
            </a:pPr>
            <a:r>
              <a:rPr sz="1200">
                <a:solidFill>
                  <a:srgbClr val="1D1D1F"/>
                </a:solidFill>
                <a:latin typeface="Calibri"/>
              </a:rPr>
              <a:t>  Community &amp; UGC zijn onderontwikkeld</a:t>
            </a:r>
          </a:p>
          <a:p>
            <a:pPr>
              <a:spcAft>
                <a:spcPts val="400"/>
              </a:spcAft>
            </a:pPr>
            <a:r>
              <a:rPr sz="1200">
                <a:solidFill>
                  <a:srgbClr val="1D1D1F"/>
                </a:solidFill>
                <a:latin typeface="Calibri"/>
              </a:rPr>
              <a:t>  Personalisatie blijft oppervlakkig</a:t>
            </a:r>
          </a:p>
          <a:p>
            <a:pPr>
              <a:spcAft>
                <a:spcPts val="400"/>
              </a:spcAft>
            </a:pPr>
            <a:r>
              <a:rPr sz="1200">
                <a:solidFill>
                  <a:srgbClr val="1D1D1F"/>
                </a:solidFill>
                <a:latin typeface="Calibri"/>
              </a:rPr>
              <a:t>  Geen marketing automation / lifecycle</a:t>
            </a:r>
          </a:p>
        </p:txBody>
      </p:sp>
      <p:sp>
        <p:nvSpPr>
          <p:cNvPr id="15" name="Rounded Rectangle 14"/>
          <p:cNvSpPr/>
          <p:nvPr/>
        </p:nvSpPr>
        <p:spPr>
          <a:xfrm>
            <a:off x="8229600" y="4754880"/>
            <a:ext cx="3520440" cy="1828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58200" y="4846320"/>
            <a:ext cx="3017520" cy="320040"/>
          </a:xfrm>
          <a:prstGeom prst="rect">
            <a:avLst/>
          </a:prstGeom>
          <a:noFill/>
        </p:spPr>
        <p:txBody>
          <a:bodyPr wrap="square">
            <a:spAutoFit/>
          </a:bodyPr>
          <a:lstStyle/>
          <a:p>
            <a:pPr algn="l"/>
            <a:r>
              <a:rPr sz="1500" b="1">
                <a:solidFill>
                  <a:srgbClr val="1D1D1F"/>
                </a:solidFill>
                <a:latin typeface="Calibri"/>
              </a:rPr>
              <a:t>Vs. benchmark</a:t>
            </a:r>
          </a:p>
        </p:txBody>
      </p:sp>
      <p:sp>
        <p:nvSpPr>
          <p:cNvPr id="17" name="TextBox 16"/>
          <p:cNvSpPr txBox="1"/>
          <p:nvPr/>
        </p:nvSpPr>
        <p:spPr>
          <a:xfrm>
            <a:off x="8458200" y="5212080"/>
            <a:ext cx="3017520" cy="1280160"/>
          </a:xfrm>
          <a:prstGeom prst="rect">
            <a:avLst/>
          </a:prstGeom>
          <a:noFill/>
        </p:spPr>
        <p:txBody>
          <a:bodyPr wrap="square">
            <a:spAutoFit/>
          </a:bodyPr>
          <a:lstStyle/>
          <a:p>
            <a:pPr>
              <a:spcAft>
                <a:spcPts val="400"/>
              </a:spcAft>
            </a:pPr>
            <a:r>
              <a:rPr sz="1200">
                <a:solidFill>
                  <a:srgbClr val="1D1D1F"/>
                </a:solidFill>
                <a:latin typeface="Calibri"/>
              </a:rPr>
              <a:t>  Ruim boven Action (3/10)</a:t>
            </a:r>
          </a:p>
          <a:p>
            <a:pPr>
              <a:spcAft>
                <a:spcPts val="400"/>
              </a:spcAft>
            </a:pPr>
            <a:r>
              <a:rPr sz="1200">
                <a:solidFill>
                  <a:srgbClr val="1D1D1F"/>
                </a:solidFill>
                <a:latin typeface="Calibri"/>
              </a:rPr>
              <a:t>  Onder IKEA (9/10) op personalisatie</a:t>
            </a:r>
          </a:p>
          <a:p>
            <a:pPr>
              <a:spcAft>
                <a:spcPts val="400"/>
              </a:spcAft>
            </a:pPr>
            <a:r>
              <a:rPr sz="1200">
                <a:solidFill>
                  <a:srgbClr val="1D1D1F"/>
                </a:solidFill>
                <a:latin typeface="Calibri"/>
              </a:rPr>
              <a:t>  Onder IKEA op community &amp; content</a:t>
            </a:r>
          </a:p>
          <a:p>
            <a:pPr>
              <a:spcAft>
                <a:spcPts val="400"/>
              </a:spcAft>
            </a:pPr>
            <a:r>
              <a:rPr sz="1200">
                <a:solidFill>
                  <a:srgbClr val="1D1D1F"/>
                </a:solidFill>
                <a:latin typeface="Calibri"/>
              </a:rPr>
              <a:t>  Retentiefundament is aanwezig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4297680" y="365760"/>
            <a:ext cx="356616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Aanbevelingen</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5 concrete verbeteradviezen voor HEMA</a:t>
            </a:r>
          </a:p>
        </p:txBody>
      </p:sp>
      <p:sp>
        <p:nvSpPr>
          <p:cNvPr id="6" name="TextBox 5"/>
          <p:cNvSpPr txBox="1"/>
          <p:nvPr/>
        </p:nvSpPr>
        <p:spPr>
          <a:xfrm>
            <a:off x="1828800" y="1508760"/>
            <a:ext cx="8534095" cy="365760"/>
          </a:xfrm>
          <a:prstGeom prst="rect">
            <a:avLst/>
          </a:prstGeom>
          <a:noFill/>
        </p:spPr>
        <p:txBody>
          <a:bodyPr wrap="square">
            <a:spAutoFit/>
          </a:bodyPr>
          <a:lstStyle/>
          <a:p>
            <a:pPr algn="ctr"/>
            <a:r>
              <a:rPr sz="1400" b="0">
                <a:solidFill>
                  <a:srgbClr val="86868B"/>
                </a:solidFill>
                <a:latin typeface="Calibri"/>
              </a:rPr>
              <a:t>Gericht op het verhogen van klantloyaliteit, herhaalaankopen en customer lifetime value</a:t>
            </a:r>
          </a:p>
        </p:txBody>
      </p:sp>
      <p:sp>
        <p:nvSpPr>
          <p:cNvPr id="7" name="Rounded Rectangle 6"/>
          <p:cNvSpPr/>
          <p:nvPr/>
        </p:nvSpPr>
        <p:spPr>
          <a:xfrm>
            <a:off x="411480" y="2011680"/>
            <a:ext cx="2057400" cy="4114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48640" y="2148840"/>
            <a:ext cx="320040" cy="32004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1</a:t>
            </a:r>
          </a:p>
        </p:txBody>
      </p:sp>
      <p:sp>
        <p:nvSpPr>
          <p:cNvPr id="9" name="TextBox 8"/>
          <p:cNvSpPr txBox="1"/>
          <p:nvPr/>
        </p:nvSpPr>
        <p:spPr>
          <a:xfrm>
            <a:off x="960120" y="2148840"/>
            <a:ext cx="1417320" cy="320040"/>
          </a:xfrm>
          <a:prstGeom prst="rect">
            <a:avLst/>
          </a:prstGeom>
          <a:noFill/>
        </p:spPr>
        <p:txBody>
          <a:bodyPr wrap="square">
            <a:spAutoFit/>
          </a:bodyPr>
          <a:lstStyle/>
          <a:p>
            <a:pPr algn="l"/>
            <a:r>
              <a:rPr sz="1300" b="1">
                <a:solidFill>
                  <a:srgbClr val="1D1D1F"/>
                </a:solidFill>
                <a:latin typeface="Calibri"/>
              </a:rPr>
              <a:t>HEMA Pas Premium</a:t>
            </a:r>
          </a:p>
        </p:txBody>
      </p:sp>
      <p:sp>
        <p:nvSpPr>
          <p:cNvPr id="10" name="Rounded Rectangle 9"/>
          <p:cNvSpPr/>
          <p:nvPr/>
        </p:nvSpPr>
        <p:spPr>
          <a:xfrm>
            <a:off x="548640" y="2514600"/>
            <a:ext cx="1783080" cy="2286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E4002B"/>
                </a:solidFill>
                <a:latin typeface="Calibri"/>
              </a:rPr>
              <a:t>Loyaliteitsniveaus</a:t>
            </a:r>
          </a:p>
        </p:txBody>
      </p:sp>
      <p:sp>
        <p:nvSpPr>
          <p:cNvPr id="11" name="TextBox 10"/>
          <p:cNvSpPr txBox="1"/>
          <p:nvPr/>
        </p:nvSpPr>
        <p:spPr>
          <a:xfrm>
            <a:off x="548640" y="2834640"/>
            <a:ext cx="1783080" cy="2286000"/>
          </a:xfrm>
          <a:prstGeom prst="rect">
            <a:avLst/>
          </a:prstGeom>
          <a:noFill/>
        </p:spPr>
        <p:txBody>
          <a:bodyPr wrap="square">
            <a:spAutoFit/>
          </a:bodyPr>
          <a:lstStyle/>
          <a:p>
            <a:pPr algn="l"/>
            <a:r>
              <a:rPr sz="1000" b="0">
                <a:solidFill>
                  <a:srgbClr val="1D1D1F"/>
                </a:solidFill>
                <a:latin typeface="Calibri"/>
              </a:rPr>
              <a:t>Introduceer Bronze/Silver/Gold niveaus op basis van jaaromzet. Gold-leden krijgen early access bij collecties, dubbele punten en exclusieve producten. Dit stimuleert hogere besteding en creëert commitment (Cialdini).</a:t>
            </a:r>
          </a:p>
        </p:txBody>
      </p:sp>
      <p:sp>
        <p:nvSpPr>
          <p:cNvPr id="12" name="Rounded Rectangle 11"/>
          <p:cNvSpPr/>
          <p:nvPr/>
        </p:nvSpPr>
        <p:spPr>
          <a:xfrm>
            <a:off x="502920" y="5760720"/>
            <a:ext cx="1874520" cy="274320"/>
          </a:xfrm>
          <a:prstGeom prst="roundRect">
            <a:avLst>
              <a:gd name="adj" fmla="val 5000"/>
            </a:avLst>
          </a:prstGeom>
          <a:solidFill>
            <a:srgbClr val="E6FF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34C759"/>
                </a:solidFill>
                <a:latin typeface="Calibri"/>
              </a:rPr>
              <a:t>Impact: +15-20% herhaalaankopen bij topklanten</a:t>
            </a:r>
          </a:p>
        </p:txBody>
      </p:sp>
      <p:sp>
        <p:nvSpPr>
          <p:cNvPr id="13" name="Rounded Rectangle 12"/>
          <p:cNvSpPr/>
          <p:nvPr/>
        </p:nvSpPr>
        <p:spPr>
          <a:xfrm>
            <a:off x="2578608" y="2011680"/>
            <a:ext cx="2057400" cy="4114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2715768" y="2148840"/>
            <a:ext cx="320040" cy="32004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2</a:t>
            </a:r>
          </a:p>
        </p:txBody>
      </p:sp>
      <p:sp>
        <p:nvSpPr>
          <p:cNvPr id="15" name="TextBox 14"/>
          <p:cNvSpPr txBox="1"/>
          <p:nvPr/>
        </p:nvSpPr>
        <p:spPr>
          <a:xfrm>
            <a:off x="3127248" y="2148840"/>
            <a:ext cx="1417320" cy="320040"/>
          </a:xfrm>
          <a:prstGeom prst="rect">
            <a:avLst/>
          </a:prstGeom>
          <a:noFill/>
        </p:spPr>
        <p:txBody>
          <a:bodyPr wrap="square">
            <a:spAutoFit/>
          </a:bodyPr>
          <a:lstStyle/>
          <a:p>
            <a:pPr algn="l"/>
            <a:r>
              <a:rPr sz="1300" b="1">
                <a:solidFill>
                  <a:srgbClr val="1D1D1F"/>
                </a:solidFill>
                <a:latin typeface="Calibri"/>
              </a:rPr>
              <a:t>Marketing automation</a:t>
            </a:r>
          </a:p>
        </p:txBody>
      </p:sp>
      <p:sp>
        <p:nvSpPr>
          <p:cNvPr id="16" name="Rounded Rectangle 15"/>
          <p:cNvSpPr/>
          <p:nvPr/>
        </p:nvSpPr>
        <p:spPr>
          <a:xfrm>
            <a:off x="2715768" y="2514600"/>
            <a:ext cx="1783080" cy="2286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E4002B"/>
                </a:solidFill>
                <a:latin typeface="Calibri"/>
              </a:rPr>
              <a:t>Lifecycle e-mails</a:t>
            </a:r>
          </a:p>
        </p:txBody>
      </p:sp>
      <p:sp>
        <p:nvSpPr>
          <p:cNvPr id="17" name="TextBox 16"/>
          <p:cNvSpPr txBox="1"/>
          <p:nvPr/>
        </p:nvSpPr>
        <p:spPr>
          <a:xfrm>
            <a:off x="2715768" y="2834640"/>
            <a:ext cx="1783080" cy="2286000"/>
          </a:xfrm>
          <a:prstGeom prst="rect">
            <a:avLst/>
          </a:prstGeom>
          <a:noFill/>
        </p:spPr>
        <p:txBody>
          <a:bodyPr wrap="square">
            <a:spAutoFit/>
          </a:bodyPr>
          <a:lstStyle/>
          <a:p>
            <a:pPr algn="l"/>
            <a:r>
              <a:rPr sz="1000" b="0">
                <a:solidFill>
                  <a:srgbClr val="1D1D1F"/>
                </a:solidFill>
                <a:latin typeface="Calibri"/>
              </a:rPr>
              <a:t>Implementeer geautomatiseerde e-mailflows: welkomstserie (5 mails), win-back na 60 dagen inactiviteit, verjaardagscampagnes en post-purchase nurturing met gerelateerde producten.</a:t>
            </a:r>
          </a:p>
        </p:txBody>
      </p:sp>
      <p:sp>
        <p:nvSpPr>
          <p:cNvPr id="18" name="Rounded Rectangle 17"/>
          <p:cNvSpPr/>
          <p:nvPr/>
        </p:nvSpPr>
        <p:spPr>
          <a:xfrm>
            <a:off x="2670048" y="5760720"/>
            <a:ext cx="1874520" cy="274320"/>
          </a:xfrm>
          <a:prstGeom prst="roundRect">
            <a:avLst>
              <a:gd name="adj" fmla="val 5000"/>
            </a:avLst>
          </a:prstGeom>
          <a:solidFill>
            <a:srgbClr val="E6FF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34C759"/>
                </a:solidFill>
                <a:latin typeface="Calibri"/>
              </a:rPr>
              <a:t>Impact: +25% e-mail conversie door relevante timing</a:t>
            </a:r>
          </a:p>
        </p:txBody>
      </p:sp>
      <p:sp>
        <p:nvSpPr>
          <p:cNvPr id="19" name="Rounded Rectangle 18"/>
          <p:cNvSpPr/>
          <p:nvPr/>
        </p:nvSpPr>
        <p:spPr>
          <a:xfrm>
            <a:off x="4745736" y="2011680"/>
            <a:ext cx="2057400" cy="4114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4882896" y="2148840"/>
            <a:ext cx="320040" cy="32004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3</a:t>
            </a:r>
          </a:p>
        </p:txBody>
      </p:sp>
      <p:sp>
        <p:nvSpPr>
          <p:cNvPr id="21" name="TextBox 20"/>
          <p:cNvSpPr txBox="1"/>
          <p:nvPr/>
        </p:nvSpPr>
        <p:spPr>
          <a:xfrm>
            <a:off x="5294376" y="2148840"/>
            <a:ext cx="1417320" cy="320040"/>
          </a:xfrm>
          <a:prstGeom prst="rect">
            <a:avLst/>
          </a:prstGeom>
          <a:noFill/>
        </p:spPr>
        <p:txBody>
          <a:bodyPr wrap="square">
            <a:spAutoFit/>
          </a:bodyPr>
          <a:lstStyle/>
          <a:p>
            <a:pPr algn="l"/>
            <a:r>
              <a:rPr sz="1300" b="1">
                <a:solidFill>
                  <a:srgbClr val="1D1D1F"/>
                </a:solidFill>
                <a:latin typeface="Calibri"/>
              </a:rPr>
              <a:t>HEMA Community</a:t>
            </a:r>
          </a:p>
        </p:txBody>
      </p:sp>
      <p:sp>
        <p:nvSpPr>
          <p:cNvPr id="22" name="Rounded Rectangle 21"/>
          <p:cNvSpPr/>
          <p:nvPr/>
        </p:nvSpPr>
        <p:spPr>
          <a:xfrm>
            <a:off x="4882896" y="2514600"/>
            <a:ext cx="1783080" cy="2286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E4002B"/>
                </a:solidFill>
                <a:latin typeface="Calibri"/>
              </a:rPr>
              <a:t>UGC &amp; betrokkenheid</a:t>
            </a:r>
          </a:p>
        </p:txBody>
      </p:sp>
      <p:sp>
        <p:nvSpPr>
          <p:cNvPr id="23" name="TextBox 22"/>
          <p:cNvSpPr txBox="1"/>
          <p:nvPr/>
        </p:nvSpPr>
        <p:spPr>
          <a:xfrm>
            <a:off x="4882896" y="2834640"/>
            <a:ext cx="1783080" cy="2286000"/>
          </a:xfrm>
          <a:prstGeom prst="rect">
            <a:avLst/>
          </a:prstGeom>
          <a:noFill/>
        </p:spPr>
        <p:txBody>
          <a:bodyPr wrap="square">
            <a:spAutoFit/>
          </a:bodyPr>
          <a:lstStyle/>
          <a:p>
            <a:pPr algn="l"/>
            <a:r>
              <a:rPr sz="1000" b="0">
                <a:solidFill>
                  <a:srgbClr val="1D1D1F"/>
                </a:solidFill>
                <a:latin typeface="Calibri"/>
              </a:rPr>
              <a:t>Lanceer #MijnHEMA: klanten delen foto's van producten in gebruik. Beste content wordt uitgelicht op de webshop en social media. Maandelijkse winactie als incentive. Bouwt sociale bewijskracht.</a:t>
            </a:r>
          </a:p>
        </p:txBody>
      </p:sp>
      <p:sp>
        <p:nvSpPr>
          <p:cNvPr id="24" name="Rounded Rectangle 23"/>
          <p:cNvSpPr/>
          <p:nvPr/>
        </p:nvSpPr>
        <p:spPr>
          <a:xfrm>
            <a:off x="4837176" y="5760720"/>
            <a:ext cx="1874520" cy="274320"/>
          </a:xfrm>
          <a:prstGeom prst="roundRect">
            <a:avLst>
              <a:gd name="adj" fmla="val 5000"/>
            </a:avLst>
          </a:prstGeom>
          <a:solidFill>
            <a:srgbClr val="E6FF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34C759"/>
                </a:solidFill>
                <a:latin typeface="Calibri"/>
              </a:rPr>
              <a:t>Impact: authentieke content + 3x hogere engagement</a:t>
            </a:r>
          </a:p>
        </p:txBody>
      </p:sp>
      <p:sp>
        <p:nvSpPr>
          <p:cNvPr id="25" name="Rounded Rectangle 24"/>
          <p:cNvSpPr/>
          <p:nvPr/>
        </p:nvSpPr>
        <p:spPr>
          <a:xfrm>
            <a:off x="6912864" y="2011680"/>
            <a:ext cx="2057400" cy="4114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050024" y="2148840"/>
            <a:ext cx="320040" cy="32004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4</a:t>
            </a:r>
          </a:p>
        </p:txBody>
      </p:sp>
      <p:sp>
        <p:nvSpPr>
          <p:cNvPr id="27" name="TextBox 26"/>
          <p:cNvSpPr txBox="1"/>
          <p:nvPr/>
        </p:nvSpPr>
        <p:spPr>
          <a:xfrm>
            <a:off x="7461504" y="2148840"/>
            <a:ext cx="1417320" cy="320040"/>
          </a:xfrm>
          <a:prstGeom prst="rect">
            <a:avLst/>
          </a:prstGeom>
          <a:noFill/>
        </p:spPr>
        <p:txBody>
          <a:bodyPr wrap="square">
            <a:spAutoFit/>
          </a:bodyPr>
          <a:lstStyle/>
          <a:p>
            <a:pPr algn="l"/>
            <a:r>
              <a:rPr sz="1300" b="1">
                <a:solidFill>
                  <a:srgbClr val="1D1D1F"/>
                </a:solidFill>
                <a:latin typeface="Calibri"/>
              </a:rPr>
              <a:t>AI-personalisatie</a:t>
            </a:r>
          </a:p>
        </p:txBody>
      </p:sp>
      <p:sp>
        <p:nvSpPr>
          <p:cNvPr id="28" name="Rounded Rectangle 27"/>
          <p:cNvSpPr/>
          <p:nvPr/>
        </p:nvSpPr>
        <p:spPr>
          <a:xfrm>
            <a:off x="7050024" y="2514600"/>
            <a:ext cx="1783080" cy="2286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E4002B"/>
                </a:solidFill>
                <a:latin typeface="Calibri"/>
              </a:rPr>
              <a:t>Slimmer aanbevelen</a:t>
            </a:r>
          </a:p>
        </p:txBody>
      </p:sp>
      <p:sp>
        <p:nvSpPr>
          <p:cNvPr id="29" name="TextBox 28"/>
          <p:cNvSpPr txBox="1"/>
          <p:nvPr/>
        </p:nvSpPr>
        <p:spPr>
          <a:xfrm>
            <a:off x="7050024" y="2834640"/>
            <a:ext cx="1783080" cy="2286000"/>
          </a:xfrm>
          <a:prstGeom prst="rect">
            <a:avLst/>
          </a:prstGeom>
          <a:noFill/>
        </p:spPr>
        <p:txBody>
          <a:bodyPr wrap="square">
            <a:spAutoFit/>
          </a:bodyPr>
          <a:lstStyle/>
          <a:p>
            <a:pPr algn="l"/>
            <a:r>
              <a:rPr sz="1000" b="0">
                <a:solidFill>
                  <a:srgbClr val="1D1D1F"/>
                </a:solidFill>
                <a:latin typeface="Calibri"/>
              </a:rPr>
              <a:t>Investeer in AI-driven aanbevelingen op basis van koophistorie, browse-gedrag en seizoen. Personaliseer de homepage per klant. Stuur 'speciaal voor jou' e-mails met producten die aansluiten bij eerdere aankopen.</a:t>
            </a:r>
          </a:p>
        </p:txBody>
      </p:sp>
      <p:sp>
        <p:nvSpPr>
          <p:cNvPr id="30" name="Rounded Rectangle 29"/>
          <p:cNvSpPr/>
          <p:nvPr/>
        </p:nvSpPr>
        <p:spPr>
          <a:xfrm>
            <a:off x="7004304" y="5760720"/>
            <a:ext cx="1874520" cy="274320"/>
          </a:xfrm>
          <a:prstGeom prst="roundRect">
            <a:avLst>
              <a:gd name="adj" fmla="val 5000"/>
            </a:avLst>
          </a:prstGeom>
          <a:solidFill>
            <a:srgbClr val="E6FF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34C759"/>
                </a:solidFill>
                <a:latin typeface="Calibri"/>
              </a:rPr>
              <a:t>Impact: +10-30% conversie door relevante aanbevelingen</a:t>
            </a:r>
          </a:p>
        </p:txBody>
      </p:sp>
      <p:sp>
        <p:nvSpPr>
          <p:cNvPr id="31" name="Rounded Rectangle 30"/>
          <p:cNvSpPr/>
          <p:nvPr/>
        </p:nvSpPr>
        <p:spPr>
          <a:xfrm>
            <a:off x="9079992" y="2011680"/>
            <a:ext cx="2057400" cy="411480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9217152" y="2148840"/>
            <a:ext cx="320040" cy="320040"/>
          </a:xfrm>
          <a:prstGeom prst="roundRect">
            <a:avLst>
              <a:gd name="adj" fmla="val 50000"/>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FFFFFF"/>
                </a:solidFill>
                <a:latin typeface="Calibri"/>
              </a:rPr>
              <a:t>5</a:t>
            </a:r>
          </a:p>
        </p:txBody>
      </p:sp>
      <p:sp>
        <p:nvSpPr>
          <p:cNvPr id="33" name="TextBox 32"/>
          <p:cNvSpPr txBox="1"/>
          <p:nvPr/>
        </p:nvSpPr>
        <p:spPr>
          <a:xfrm>
            <a:off x="9628632" y="2148840"/>
            <a:ext cx="1417320" cy="320040"/>
          </a:xfrm>
          <a:prstGeom prst="rect">
            <a:avLst/>
          </a:prstGeom>
          <a:noFill/>
        </p:spPr>
        <p:txBody>
          <a:bodyPr wrap="square">
            <a:spAutoFit/>
          </a:bodyPr>
          <a:lstStyle/>
          <a:p>
            <a:pPr algn="l"/>
            <a:r>
              <a:rPr sz="1300" b="1">
                <a:solidFill>
                  <a:srgbClr val="1D1D1F"/>
                </a:solidFill>
                <a:latin typeface="Calibri"/>
              </a:rPr>
              <a:t>Exclusieve content</a:t>
            </a:r>
          </a:p>
        </p:txBody>
      </p:sp>
      <p:sp>
        <p:nvSpPr>
          <p:cNvPr id="34" name="Rounded Rectangle 33"/>
          <p:cNvSpPr/>
          <p:nvPr/>
        </p:nvSpPr>
        <p:spPr>
          <a:xfrm>
            <a:off x="9217152" y="2514600"/>
            <a:ext cx="1783080" cy="228600"/>
          </a:xfrm>
          <a:prstGeom prst="roundRect">
            <a:avLst>
              <a:gd name="adj" fmla="val 5000"/>
            </a:avLst>
          </a:prstGeom>
          <a:solidFill>
            <a:srgbClr val="FCE8EC"/>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900" b="1">
                <a:solidFill>
                  <a:srgbClr val="E4002B"/>
                </a:solidFill>
                <a:latin typeface="Calibri"/>
              </a:rPr>
              <a:t>Blog &amp; inspiratie</a:t>
            </a:r>
          </a:p>
        </p:txBody>
      </p:sp>
      <p:sp>
        <p:nvSpPr>
          <p:cNvPr id="35" name="TextBox 34"/>
          <p:cNvSpPr txBox="1"/>
          <p:nvPr/>
        </p:nvSpPr>
        <p:spPr>
          <a:xfrm>
            <a:off x="9217152" y="2834640"/>
            <a:ext cx="1783080" cy="2286000"/>
          </a:xfrm>
          <a:prstGeom prst="rect">
            <a:avLst/>
          </a:prstGeom>
          <a:noFill/>
        </p:spPr>
        <p:txBody>
          <a:bodyPr wrap="square">
            <a:spAutoFit/>
          </a:bodyPr>
          <a:lstStyle/>
          <a:p>
            <a:pPr algn="l"/>
            <a:r>
              <a:rPr sz="1000" b="0">
                <a:solidFill>
                  <a:srgbClr val="1D1D1F"/>
                </a:solidFill>
                <a:latin typeface="Calibri"/>
              </a:rPr>
              <a:t>Start een inspiratieblog op hema.nl met seizoenstips, recepten, DIY-projecten en stylingtips. Exclusieve content voor HEMA Pas-leden. Video's voor TikTok/Instagram die klanten terugbrengen naar de webshop.</a:t>
            </a:r>
          </a:p>
        </p:txBody>
      </p:sp>
      <p:sp>
        <p:nvSpPr>
          <p:cNvPr id="36" name="Rounded Rectangle 35"/>
          <p:cNvSpPr/>
          <p:nvPr/>
        </p:nvSpPr>
        <p:spPr>
          <a:xfrm>
            <a:off x="9171432" y="5760720"/>
            <a:ext cx="1874520" cy="274320"/>
          </a:xfrm>
          <a:prstGeom prst="roundRect">
            <a:avLst>
              <a:gd name="adj" fmla="val 5000"/>
            </a:avLst>
          </a:prstGeom>
          <a:solidFill>
            <a:srgbClr val="E6FFE6"/>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800" b="1">
                <a:solidFill>
                  <a:srgbClr val="34C759"/>
                </a:solidFill>
                <a:latin typeface="Calibri"/>
              </a:rPr>
              <a:t>Impact: +40% websitebezoek, langere sessieduur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5166360" y="548640"/>
            <a:ext cx="1828800" cy="731520"/>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3600" b="1">
                <a:solidFill>
                  <a:srgbClr val="FFFFFF"/>
                </a:solidFill>
                <a:latin typeface="Calibri"/>
              </a:rPr>
              <a:t>HEMA</a:t>
            </a:r>
          </a:p>
        </p:txBody>
      </p:sp>
      <p:sp>
        <p:nvSpPr>
          <p:cNvPr id="5" name="TextBox 4"/>
          <p:cNvSpPr txBox="1"/>
          <p:nvPr/>
        </p:nvSpPr>
        <p:spPr>
          <a:xfrm>
            <a:off x="1371600" y="1645920"/>
            <a:ext cx="9448495" cy="914400"/>
          </a:xfrm>
          <a:prstGeom prst="rect">
            <a:avLst/>
          </a:prstGeom>
          <a:noFill/>
        </p:spPr>
        <p:txBody>
          <a:bodyPr wrap="square">
            <a:spAutoFit/>
          </a:bodyPr>
          <a:lstStyle/>
          <a:p>
            <a:pPr algn="ctr"/>
            <a:r>
              <a:rPr sz="2600" b="1">
                <a:solidFill>
                  <a:srgbClr val="1D1D1F"/>
                </a:solidFill>
                <a:latin typeface="Calibri"/>
              </a:rPr>
              <a:t>HEMA heeft een sterke basis voor retentiemarketing,
met de HEMA Pas als solide fundament.</a:t>
            </a:r>
          </a:p>
        </p:txBody>
      </p:sp>
      <p:sp>
        <p:nvSpPr>
          <p:cNvPr id="6" name="TextBox 5"/>
          <p:cNvSpPr txBox="1"/>
          <p:nvPr/>
        </p:nvSpPr>
        <p:spPr>
          <a:xfrm>
            <a:off x="1828800" y="2651760"/>
            <a:ext cx="8534095" cy="640080"/>
          </a:xfrm>
          <a:prstGeom prst="rect">
            <a:avLst/>
          </a:prstGeom>
          <a:noFill/>
        </p:spPr>
        <p:txBody>
          <a:bodyPr wrap="square">
            <a:spAutoFit/>
          </a:bodyPr>
          <a:lstStyle/>
          <a:p>
            <a:pPr algn="ctr"/>
            <a:r>
              <a:rPr sz="1700" b="0">
                <a:solidFill>
                  <a:srgbClr val="86868B"/>
                </a:solidFill>
                <a:latin typeface="Calibri"/>
              </a:rPr>
              <a:t>Door te investeren in loyaliteitsniveaus, marketing automation, community,
personalisatie en exclusieve content kan HEMA van een 7 naar een 9 groeien.</a:t>
            </a:r>
          </a:p>
        </p:txBody>
      </p:sp>
      <p:sp>
        <p:nvSpPr>
          <p:cNvPr id="7" name="Rounded Rectangle 6"/>
          <p:cNvSpPr/>
          <p:nvPr/>
        </p:nvSpPr>
        <p:spPr>
          <a:xfrm>
            <a:off x="1371600" y="3566160"/>
            <a:ext cx="9448495" cy="164592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645920" y="3657600"/>
            <a:ext cx="8869680" cy="365760"/>
          </a:xfrm>
          <a:prstGeom prst="rect">
            <a:avLst/>
          </a:prstGeom>
          <a:noFill/>
        </p:spPr>
        <p:txBody>
          <a:bodyPr wrap="square">
            <a:spAutoFit/>
          </a:bodyPr>
          <a:lstStyle/>
          <a:p>
            <a:pPr algn="l"/>
            <a:r>
              <a:rPr sz="1300" b="1">
                <a:solidFill>
                  <a:srgbClr val="E4002B"/>
                </a:solidFill>
                <a:latin typeface="Calibri"/>
              </a:rPr>
              <a:t>Antwoord op de centrale pitchvraag:</a:t>
            </a:r>
          </a:p>
        </p:txBody>
      </p:sp>
      <p:sp>
        <p:nvSpPr>
          <p:cNvPr id="9" name="TextBox 8"/>
          <p:cNvSpPr txBox="1"/>
          <p:nvPr/>
        </p:nvSpPr>
        <p:spPr>
          <a:xfrm>
            <a:off x="1645920" y="4023360"/>
            <a:ext cx="8869680" cy="1005840"/>
          </a:xfrm>
          <a:prstGeom prst="rect">
            <a:avLst/>
          </a:prstGeom>
          <a:noFill/>
        </p:spPr>
        <p:txBody>
          <a:bodyPr wrap="square">
            <a:spAutoFit/>
          </a:bodyPr>
          <a:lstStyle/>
          <a:p>
            <a:pPr algn="l"/>
            <a:r>
              <a:rPr sz="1400" b="0">
                <a:solidFill>
                  <a:srgbClr val="1D1D1F"/>
                </a:solidFill>
                <a:latin typeface="Calibri"/>
              </a:rPr>
              <a:t>"HEMA zet retentiemarketing op een voldoende niveau in. Het loyaliteitsprogramma, de omnichannel-aanpak en seizoenscampagnes vormen een sterk fundament. Echter, vergeleken met de benchmark (IKEA) ontbreekt diepgang in personalisatie, community-building en geautomatiseerde klantcommunicatie. Met onze vijf aanbevelingen kan HEMA bestaande klanten significant beter binden en de customer lifetime value verhogen."</a:t>
            </a:r>
          </a:p>
        </p:txBody>
      </p:sp>
      <p:sp>
        <p:nvSpPr>
          <p:cNvPr id="10" name="TextBox 9"/>
          <p:cNvSpPr txBox="1"/>
          <p:nvPr/>
        </p:nvSpPr>
        <p:spPr>
          <a:xfrm>
            <a:off x="1371600" y="5486400"/>
            <a:ext cx="9448495" cy="548640"/>
          </a:xfrm>
          <a:prstGeom prst="rect">
            <a:avLst/>
          </a:prstGeom>
          <a:noFill/>
        </p:spPr>
        <p:txBody>
          <a:bodyPr wrap="square">
            <a:spAutoFit/>
          </a:bodyPr>
          <a:lstStyle/>
          <a:p>
            <a:pPr algn="ctr"/>
            <a:r>
              <a:rPr sz="2200" b="1">
                <a:solidFill>
                  <a:srgbClr val="E4002B"/>
                </a:solidFill>
                <a:latin typeface="Calibri"/>
              </a:rPr>
              <a:t>Bedankt voor jullie aandacht — Zijn er vragen?</a:t>
            </a:r>
          </a:p>
        </p:txBody>
      </p:sp>
      <p:sp>
        <p:nvSpPr>
          <p:cNvPr id="11" name="TextBox 10"/>
          <p:cNvSpPr txBox="1"/>
          <p:nvPr/>
        </p:nvSpPr>
        <p:spPr>
          <a:xfrm>
            <a:off x="2286000" y="6035040"/>
            <a:ext cx="7619695" cy="365760"/>
          </a:xfrm>
          <a:prstGeom prst="rect">
            <a:avLst/>
          </a:prstGeom>
          <a:noFill/>
        </p:spPr>
        <p:txBody>
          <a:bodyPr wrap="square">
            <a:spAutoFit/>
          </a:bodyPr>
          <a:lstStyle/>
          <a:p>
            <a:pPr algn="ctr"/>
            <a:r>
              <a:rPr sz="1300" b="0">
                <a:solidFill>
                  <a:srgbClr val="86868B"/>
                </a:solidFill>
                <a:latin typeface="Calibri"/>
              </a:rPr>
              <a:t>Stan  •  Niels  •  Mees  •  Levi  •  Tom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84848"/>
            <a:ext cx="12191695" cy="73152"/>
          </a:xfrm>
          <a:prstGeom prst="rect">
            <a:avLst/>
          </a:prstGeom>
          <a:solidFill>
            <a:srgbClr val="E400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0" y="365760"/>
            <a:ext cx="2103120" cy="320040"/>
          </a:xfrm>
          <a:prstGeom prst="roundRect">
            <a:avLst>
              <a:gd name="adj" fmla="val 5000"/>
            </a:avLst>
          </a:prstGeom>
          <a:solidFill>
            <a:srgbClr val="F5F5F7"/>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00" b="0">
                <a:solidFill>
                  <a:srgbClr val="86868B"/>
                </a:solidFill>
                <a:latin typeface="Calibri"/>
              </a:rPr>
              <a:t>●  Bronnen</a:t>
            </a:r>
          </a:p>
        </p:txBody>
      </p:sp>
      <p:sp>
        <p:nvSpPr>
          <p:cNvPr id="5" name="TextBox 4"/>
          <p:cNvSpPr txBox="1"/>
          <p:nvPr/>
        </p:nvSpPr>
        <p:spPr>
          <a:xfrm>
            <a:off x="731520" y="914400"/>
            <a:ext cx="10698480" cy="640080"/>
          </a:xfrm>
          <a:prstGeom prst="rect">
            <a:avLst/>
          </a:prstGeom>
          <a:noFill/>
        </p:spPr>
        <p:txBody>
          <a:bodyPr wrap="square">
            <a:spAutoFit/>
          </a:bodyPr>
          <a:lstStyle/>
          <a:p>
            <a:pPr algn="ctr"/>
            <a:r>
              <a:rPr sz="3200" b="1">
                <a:solidFill>
                  <a:srgbClr val="1D1D1F"/>
                </a:solidFill>
                <a:latin typeface="Calibri"/>
              </a:rPr>
              <a:t>Bronnen</a:t>
            </a:r>
          </a:p>
        </p:txBody>
      </p:sp>
      <p:sp>
        <p:nvSpPr>
          <p:cNvPr id="6" name="TextBox 5"/>
          <p:cNvSpPr txBox="1"/>
          <p:nvPr/>
        </p:nvSpPr>
        <p:spPr>
          <a:xfrm>
            <a:off x="731520" y="1737360"/>
            <a:ext cx="10698480" cy="4572000"/>
          </a:xfrm>
          <a:prstGeom prst="rect">
            <a:avLst/>
          </a:prstGeom>
          <a:noFill/>
        </p:spPr>
        <p:txBody>
          <a:bodyPr wrap="square">
            <a:spAutoFit/>
          </a:bodyPr>
          <a:lstStyle/>
          <a:p>
            <a:pPr>
              <a:spcAft>
                <a:spcPts val="800"/>
              </a:spcAft>
            </a:pPr>
            <a:r>
              <a:rPr sz="1100">
                <a:solidFill>
                  <a:srgbClr val="86868B"/>
                </a:solidFill>
                <a:latin typeface="Calibri"/>
              </a:rPr>
              <a:t>Frankwatching. (z.d.). Retentiemarketing: 4 strategieen waarmee klanten terugkomen. Geraadpleegd op frankwatching.com</a:t>
            </a:r>
          </a:p>
          <a:p>
            <a:pPr>
              <a:spcAft>
                <a:spcPts val="800"/>
              </a:spcAft>
            </a:pPr>
            <a:r>
              <a:rPr sz="1100">
                <a:solidFill>
                  <a:srgbClr val="86868B"/>
                </a:solidFill>
                <a:latin typeface="Calibri"/>
              </a:rPr>
              <a:t>Visser, M. &amp; Sikkenga, B. (2021). Basisboek Online Marketing (4e editie). Noordhoff Uitgevers.</a:t>
            </a:r>
          </a:p>
          <a:p>
            <a:pPr>
              <a:spcAft>
                <a:spcPts val="800"/>
              </a:spcAft>
            </a:pPr>
            <a:r>
              <a:rPr sz="1100">
                <a:solidFill>
                  <a:srgbClr val="86868B"/>
                </a:solidFill>
                <a:latin typeface="Calibri"/>
              </a:rPr>
              <a:t>Cialdini, R.B. (2021). Invloed: De zes geheimen van het overtuigen. Uitgeverij Business Contact.</a:t>
            </a:r>
          </a:p>
          <a:p>
            <a:pPr>
              <a:spcAft>
                <a:spcPts val="800"/>
              </a:spcAft>
            </a:pPr>
            <a:r>
              <a:rPr sz="1100">
                <a:solidFill>
                  <a:srgbClr val="86868B"/>
                </a:solidFill>
                <a:latin typeface="Calibri"/>
              </a:rPr>
              <a:t>Srinivasan, S.S., Anderson, R. &amp; Ponnavolu, K. (2002). Customer loyalty in e-commerce: an exploration of its antecedents and consequences. Journal of Retailing, 78(1), 41-50.</a:t>
            </a:r>
          </a:p>
          <a:p>
            <a:pPr>
              <a:spcAft>
                <a:spcPts val="800"/>
              </a:spcAft>
            </a:pPr>
            <a:r>
              <a:rPr sz="1100">
                <a:solidFill>
                  <a:srgbClr val="86868B"/>
                </a:solidFill>
                <a:latin typeface="Calibri"/>
              </a:rPr>
              <a:t>Hasan, L. &amp; Abuelrub, E. (2011). Assessing the quality of web sites. Applied Computing and Informatics, 9(1), 11-29.</a:t>
            </a:r>
          </a:p>
          <a:p>
            <a:pPr>
              <a:spcAft>
                <a:spcPts val="800"/>
              </a:spcAft>
            </a:pPr>
            <a:r>
              <a:rPr sz="1100">
                <a:solidFill>
                  <a:srgbClr val="86868B"/>
                </a:solidFill>
                <a:latin typeface="Calibri"/>
              </a:rPr>
              <a:t>HEMA. (2026). hema.nl - Webshop analyse uitgevoerd in maart 2026.</a:t>
            </a:r>
          </a:p>
          <a:p>
            <a:pPr>
              <a:spcAft>
                <a:spcPts val="800"/>
              </a:spcAft>
            </a:pPr>
            <a:r>
              <a:rPr sz="1100">
                <a:solidFill>
                  <a:srgbClr val="86868B"/>
                </a:solidFill>
                <a:latin typeface="Calibri"/>
              </a:rPr>
              <a:t>Meta. (2026). Advertentiebibliotheek. Geraadpleegd op facebook.com/ads/library</a:t>
            </a:r>
          </a:p>
          <a:p>
            <a:pPr>
              <a:spcAft>
                <a:spcPts val="800"/>
              </a:spcAft>
            </a:pPr>
            <a:r>
              <a:rPr sz="1100">
                <a:solidFill>
                  <a:srgbClr val="86868B"/>
                </a:solidFill>
                <a:latin typeface="Calibri"/>
              </a:rPr>
              <a:t>Bain &amp; Company. (z.d.). The Economics of Loyalty. Geraadpleegd op bain.com</a:t>
            </a:r>
          </a:p>
          <a:p>
            <a:pPr>
              <a:spcAft>
                <a:spcPts val="800"/>
              </a:spcAft>
            </a:pPr>
            <a:r>
              <a:rPr sz="1100">
                <a:solidFill>
                  <a:srgbClr val="86868B"/>
                </a:solidFill>
                <a:latin typeface="Calibri"/>
              </a:rPr>
              <a:t>Google. (2026). Google Ads Keyword Planner &amp; Google Trends. Geraadpleegd op ads.google.com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